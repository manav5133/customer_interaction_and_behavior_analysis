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Total Revenue by Gender</a:t>
            </a:r>
          </a:p>
        </c:rich>
      </c:tx>
      <c:layout/>
      <c:overlay val="0"/>
    </c:title>
    <c:autoTitleDeleted val="0"/>
    <c:plotArea>
      <c:layout/>
      <c:barChart>
        <c:barDir val="col"/>
        <c:grouping val="clustered"/>
        <c:varyColors val="0"/>
        <c:ser>
          <c:idx val="0"/>
          <c:order val="0"/>
          <c:tx>
            <c:strRef>
              <c:f>Sheet1!$B$1</c:f>
              <c:strCache>
                <c:ptCount val="1"/>
                <c:pt idx="0">
                  <c:v>Revenue (USD)</c:v>
                </c:pt>
              </c:strCache>
            </c:strRef>
          </c:tx>
          <c:spPr>
            <a:solidFill>
              <a:srgbClr val="4FC3F7"/>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4FC3F7"/>
              </a:solidFill>
              <a:effectLst/>
            </c:spPr>
          </c:dPt>
          <c:dPt>
            <c:idx val="1"/>
            <c:invertIfNegative val="0"/>
            <c:bubble3D val="0"/>
            <c:spPr>
              <a:solidFill>
                <a:srgbClr val="1E2761"/>
              </a:solidFill>
              <a:effectLst/>
            </c:spPr>
          </c:dPt>
          <c:cat>
            <c:multiLvlStrRef>
              <c:f>Sheet1!$A$2:$A$3</c:f>
              <c:multiLvlStrCache>
                <c:ptCount val="2"/>
                <c:lvl>
                  <c:pt idx="0">
                    <c:v>Female</c:v>
                  </c:pt>
                  <c:pt idx="1">
                    <c:v>Male</c:v>
                  </c:pt>
                </c:lvl>
              </c:multiLvlStrCache>
            </c:multiLvlStrRef>
          </c:cat>
          <c:val>
            <c:numRef>
              <c:f>Sheet1!$B$2:$B$3</c:f>
              <c:numCache>
                <c:formatCode>General</c:formatCode>
                <c:ptCount val="2"/>
                <c:pt idx="0">
                  <c:v>75191</c:v>
                </c:pt>
                <c:pt idx="1">
                  <c:v>157890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Discount Usage Rate</a:t>
            </a:r>
          </a:p>
        </c:rich>
      </c:tx>
      <c:layout/>
      <c:overlay val="0"/>
    </c:title>
    <c:autoTitleDeleted val="0"/>
    <c:plotArea>
      <c:layout/>
      <c:pieChart>
        <c:varyColors val="1"/>
        <c:ser>
          <c:idx val="0"/>
          <c:order val="0"/>
          <c:tx>
            <c:strRef>
              <c:f>Sheet1!$B$1</c:f>
              <c:strCache>
                <c:ptCount val="1"/>
                <c:pt idx="0">
                  <c:v>Discount Usage</c:v>
                </c:pt>
              </c:strCache>
            </c:strRef>
          </c:tx>
          <c:spPr>
            <a:solidFill>
              <a:schemeClr val="accent1"/>
            </a:solidFill>
            <a:ln w="9525" cap="flat">
              <a:solidFill>
                <a:srgbClr val="F9F9F9"/>
              </a:solidFill>
              <a:prstDash val="solid"/>
              <a:round/>
            </a:ln>
            <a:effectLst/>
          </c:spPr>
          <c:dPt>
            <c:idx val="0"/>
            <c:bubble3D val="0"/>
            <c:spPr>
              <a:solidFill>
                <a:srgbClr val="F9A825"/>
              </a:solidFill>
              <a:effectLst/>
            </c:spPr>
          </c:dPt>
          <c:dPt>
            <c:idx val="1"/>
            <c:bubble3D val="0"/>
            <c:spPr>
              <a:solidFill>
                <a:srgbClr val="CADCFC"/>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Used Discount</c:v>
                </c:pt>
                <c:pt idx="1">
                  <c:v>No Discount</c:v>
                </c:pt>
              </c:strCache>
            </c:strRef>
          </c:cat>
          <c:val>
            <c:numRef>
              <c:f>Sheet1!$B$2:$B$3</c:f>
              <c:numCache>
                <c:ptCount val="2"/>
                <c:pt idx="0">
                  <c:v>839</c:v>
                </c:pt>
                <c:pt idx="1">
                  <c:v>3061</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Top 5 Products by Average Rating</a:t>
            </a:r>
          </a:p>
        </c:rich>
      </c:tx>
      <c:layout/>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F9A825"/>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Gloves</c:v>
                  </c:pt>
                  <c:pt idx="1">
                    <c:v>Sandals</c:v>
                  </c:pt>
                  <c:pt idx="2">
                    <c:v>Boots</c:v>
                  </c:pt>
                  <c:pt idx="3">
                    <c:v>Hat</c:v>
                  </c:pt>
                  <c:pt idx="4">
                    <c:v>Skirt</c:v>
                  </c:pt>
                </c:lvl>
              </c:multiLvlStrCache>
            </c:multiLvlStrRef>
          </c:cat>
          <c:val>
            <c:numRef>
              <c:f>Sheet1!$B$2:$B$6</c:f>
              <c:numCache>
                <c:formatCode>General</c:formatCode>
                <c:ptCount val="5"/>
                <c:pt idx="0">
                  <c:v>3.86</c:v>
                </c:pt>
                <c:pt idx="1">
                  <c:v>3.84</c:v>
                </c:pt>
                <c:pt idx="2">
                  <c:v>3.82</c:v>
                </c:pt>
                <c:pt idx="3">
                  <c:v>3.8</c:v>
                </c:pt>
                <c:pt idx="4">
                  <c:v>3.78</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761"/>
                </a:solidFill>
                <a:latin typeface="Arial"/>
              </a:defRPr>
            </a:pPr>
            <a:endParaRPr lang="en-US"/>
          </a:p>
        </c:txPr>
        <c:crossAx val="2094734552"/>
        <c:crosses val="autoZero"/>
        <c:auto val="1"/>
        <c:lblAlgn val="ctr"/>
        <c:noMultiLvlLbl val="1"/>
      </c:catAx>
      <c:valAx>
        <c:axId val="2094734552"/>
        <c:scaling>
          <c:orientation val="minMax"/>
          <c:max val="4"/>
          <c:min val="3.7"/>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Avg Purchase Amount by Shipping Type</a:t>
            </a:r>
          </a:p>
        </c:rich>
      </c:tx>
      <c:layout/>
      <c:overlay val="0"/>
    </c:title>
    <c:autoTitleDeleted val="0"/>
    <c:plotArea>
      <c:layout/>
      <c:barChart>
        <c:barDir val="col"/>
        <c:grouping val="clustered"/>
        <c:varyColors val="0"/>
        <c:ser>
          <c:idx val="0"/>
          <c:order val="0"/>
          <c:tx>
            <c:strRef>
              <c:f>Sheet1!$B$1</c:f>
              <c:strCache>
                <c:ptCount val="1"/>
                <c:pt idx="0">
                  <c:v>Avg Purchase (USD)</c:v>
                </c:pt>
              </c:strCache>
            </c:strRef>
          </c:tx>
          <c:spPr>
            <a:solidFill>
              <a:srgbClr val="CADCFC"/>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ADCFC"/>
              </a:solidFill>
              <a:effectLst/>
            </c:spPr>
          </c:dPt>
          <c:dPt>
            <c:idx val="1"/>
            <c:invertIfNegative val="0"/>
            <c:bubble3D val="0"/>
            <c:spPr>
              <a:solidFill>
                <a:srgbClr val="4FC3F7"/>
              </a:solidFill>
              <a:effectLst/>
            </c:spPr>
          </c:dPt>
          <c:cat>
            <c:multiLvlStrRef>
              <c:f>Sheet1!$A$2:$A$3</c:f>
              <c:multiLvlStrCache>
                <c:ptCount val="2"/>
                <c:lvl>
                  <c:pt idx="0">
                    <c:v>Standard</c:v>
                  </c:pt>
                  <c:pt idx="1">
                    <c:v>Express</c:v>
                  </c:pt>
                </c:lvl>
              </c:multiLvlStrCache>
            </c:multiLvlStrRef>
          </c:cat>
          <c:val>
            <c:numRef>
              <c:f>Sheet1!$B$2:$B$3</c:f>
              <c:numCache>
                <c:formatCode>General</c:formatCode>
                <c:ptCount val="2"/>
                <c:pt idx="0">
                  <c:v>58.46</c:v>
                </c:pt>
                <c:pt idx="1">
                  <c:v>60.48</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57"/>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Average Spend per Transaction</a:t>
            </a:r>
          </a:p>
        </c:rich>
      </c:tx>
      <c:layout/>
      <c:overlay val="0"/>
    </c:title>
    <c:autoTitleDeleted val="0"/>
    <c:plotArea>
      <c:layout/>
      <c:barChart>
        <c:barDir val="col"/>
        <c:grouping val="clustered"/>
        <c:varyColors val="0"/>
        <c:ser>
          <c:idx val="0"/>
          <c:order val="0"/>
          <c:tx>
            <c:strRef>
              <c:f>Sheet1!$B$1</c:f>
              <c:strCache>
                <c:ptCount val="1"/>
                <c:pt idx="0">
                  <c:v>Avg Spend</c:v>
                </c:pt>
              </c:strCache>
            </c:strRef>
          </c:tx>
          <c:spPr>
            <a:solidFill>
              <a:srgbClr val="00BFA5"/>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0BFA5"/>
              </a:solidFill>
              <a:effectLst/>
            </c:spPr>
          </c:dPt>
          <c:dPt>
            <c:idx val="1"/>
            <c:invertIfNegative val="0"/>
            <c:bubble3D val="0"/>
            <c:spPr>
              <a:solidFill>
                <a:srgbClr val="EF5350"/>
              </a:solidFill>
              <a:effectLst/>
            </c:spPr>
          </c:dPt>
          <c:cat>
            <c:multiLvlStrRef>
              <c:f>Sheet1!$A$2:$A$3</c:f>
              <c:multiLvlStrCache>
                <c:ptCount val="2"/>
                <c:lvl>
                  <c:pt idx="0">
                    <c:v>Subscribers</c:v>
                  </c:pt>
                  <c:pt idx="1">
                    <c:v>Non-Subscribers</c:v>
                  </c:pt>
                </c:lvl>
              </c:multiLvlStrCache>
            </c:multiLvlStrRef>
          </c:cat>
          <c:val>
            <c:numRef>
              <c:f>Sheet1!$B$2:$B$3</c:f>
              <c:numCache>
                <c:formatCode>General</c:formatCode>
                <c:ptCount val="2"/>
                <c:pt idx="0">
                  <c:v>59.49</c:v>
                </c:pt>
                <c:pt idx="1">
                  <c:v>59.87</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59"/>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Total Revenue by Subscription</a:t>
            </a:r>
          </a:p>
        </c:rich>
      </c:tx>
      <c:layout/>
      <c:overlay val="0"/>
    </c:title>
    <c:autoTitleDeleted val="0"/>
    <c:plotArea>
      <c:layout/>
      <c:barChart>
        <c:barDir val="col"/>
        <c:grouping val="clustered"/>
        <c:varyColors val="0"/>
        <c:ser>
          <c:idx val="0"/>
          <c:order val="0"/>
          <c:tx>
            <c:strRef>
              <c:f>Sheet1!$B$1</c:f>
              <c:strCache>
                <c:ptCount val="1"/>
                <c:pt idx="0">
                  <c:v>Total Revenue</c:v>
                </c:pt>
              </c:strCache>
            </c:strRef>
          </c:tx>
          <c:spPr>
            <a:solidFill>
              <a:srgbClr val="00BFA5"/>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0BFA5"/>
              </a:solidFill>
              <a:effectLst/>
            </c:spPr>
          </c:dPt>
          <c:dPt>
            <c:idx val="1"/>
            <c:invertIfNegative val="0"/>
            <c:bubble3D val="0"/>
            <c:spPr>
              <a:solidFill>
                <a:srgbClr val="EF5350"/>
              </a:solidFill>
              <a:effectLst/>
            </c:spPr>
          </c:dPt>
          <c:cat>
            <c:multiLvlStrRef>
              <c:f>Sheet1!$A$2:$A$3</c:f>
              <c:multiLvlStrCache>
                <c:ptCount val="2"/>
                <c:lvl>
                  <c:pt idx="0">
                    <c:v>Subscribers
(1,053)</c:v>
                  </c:pt>
                  <c:pt idx="1">
                    <c:v>Non-Subscribers
(2,847)</c:v>
                  </c:pt>
                </c:lvl>
              </c:multiLvlStrCache>
            </c:multiLvlStrRef>
          </c:cat>
          <c:val>
            <c:numRef>
              <c:f>Sheet1!$B$2:$B$3</c:f>
              <c:numCache>
                <c:formatCode>General</c:formatCode>
                <c:ptCount val="2"/>
                <c:pt idx="0">
                  <c:v>62645</c:v>
                </c:pt>
                <c:pt idx="1">
                  <c:v>170436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Customer Segments</a:t>
            </a:r>
          </a:p>
        </c:rich>
      </c:tx>
      <c:layout/>
      <c:overlay val="0"/>
    </c:title>
    <c:autoTitleDeleted val="0"/>
    <c:plotArea>
      <c:layout/>
      <c:doughnutChart>
        <c:varyColors val="1"/>
        <c:ser>
          <c:idx val="0"/>
          <c:order val="0"/>
          <c:tx>
            <c:strRef>
              <c:f>Sheet1!$B$1</c:f>
              <c:strCache>
                <c:ptCount val="1"/>
                <c:pt idx="0">
                  <c:v>Segments</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4FC3F7"/>
              </a:solidFill>
              <a:effectLst/>
            </c:spPr>
          </c:dPt>
          <c:dPt>
            <c:idx val="2"/>
            <c:bubble3D val="0"/>
            <c:spPr>
              <a:solidFill>
                <a:srgbClr val="F9A825"/>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Loyal</c:v>
                </c:pt>
                <c:pt idx="1">
                  <c:v>Returning</c:v>
                </c:pt>
                <c:pt idx="2">
                  <c:v>New</c:v>
                </c:pt>
              </c:strCache>
            </c:strRef>
          </c:cat>
          <c:val>
            <c:numRef>
              <c:f>Sheet1!$B$2:$B$4</c:f>
              <c:numCache>
                <c:ptCount val="3"/>
                <c:pt idx="0">
                  <c:v>3116</c:v>
                </c:pt>
                <c:pt idx="1">
                  <c:v>701</c:v>
                </c:pt>
                <c:pt idx="2">
                  <c:v>83</c:v>
                </c:pt>
              </c:numCache>
            </c:numRef>
          </c:val>
        </c:ser>
        <c:firstSliceAng val="0"/>
        <c:holeSize val="55"/>
      </c:doughnut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Total Revenue by Age Segment</a:t>
            </a:r>
          </a:p>
        </c:rich>
      </c:tx>
      <c:layout/>
      <c:overlay val="0"/>
    </c:title>
    <c:autoTitleDeleted val="0"/>
    <c:plotArea>
      <c:layout/>
      <c:barChart>
        <c:barDir val="bar"/>
        <c:grouping val="clustered"/>
        <c:varyColors val="0"/>
        <c:ser>
          <c:idx val="0"/>
          <c:order val="0"/>
          <c:tx>
            <c:strRef>
              <c:f>Sheet1!$B$1</c:f>
              <c:strCache>
                <c:ptCount val="1"/>
                <c:pt idx="0">
                  <c:v>Total Revenue (USD)</c:v>
                </c:pt>
              </c:strCache>
            </c:strRef>
          </c:tx>
          <c:spPr>
            <a:solidFill>
              <a:srgbClr val="1E276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2A3F7E"/>
              </a:solidFill>
              <a:effectLst/>
            </c:spPr>
          </c:dPt>
          <c:dPt>
            <c:idx val="2"/>
            <c:invertIfNegative val="0"/>
            <c:bubble3D val="0"/>
            <c:spPr>
              <a:solidFill>
                <a:srgbClr val="4FC3F7"/>
              </a:solidFill>
              <a:effectLst/>
            </c:spPr>
          </c:dPt>
          <c:dPt>
            <c:idx val="3"/>
            <c:invertIfNegative val="0"/>
            <c:bubble3D val="0"/>
            <c:spPr>
              <a:solidFill>
                <a:srgbClr val="CADCFC"/>
              </a:solidFill>
              <a:effectLst/>
            </c:spPr>
          </c:dPt>
          <c:cat>
            <c:multiLvlStrRef>
              <c:f>Sheet1!$A$2:$A$5</c:f>
              <c:multiLvlStrCache>
                <c:ptCount val="4"/>
                <c:lvl>
                  <c:pt idx="0">
                    <c:v>Young Adult</c:v>
                  </c:pt>
                  <c:pt idx="1">
                    <c:v>Middle-aged</c:v>
                  </c:pt>
                  <c:pt idx="2">
                    <c:v>Adult</c:v>
                  </c:pt>
                  <c:pt idx="3">
                    <c:v>Senior</c:v>
                  </c:pt>
                </c:lvl>
              </c:multiLvlStrCache>
            </c:multiLvlStrRef>
          </c:cat>
          <c:val>
            <c:numRef>
              <c:f>Sheet1!$B$2:$B$5</c:f>
              <c:numCache>
                <c:formatCode>General</c:formatCode>
                <c:ptCount val="4"/>
                <c:pt idx="0">
                  <c:v>62143</c:v>
                </c:pt>
                <c:pt idx="1">
                  <c:v>59197</c:v>
                </c:pt>
                <c:pt idx="2">
                  <c:v>55978</c:v>
                </c:pt>
                <c:pt idx="3">
                  <c:v>55763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summarizes a full-stack data analysis of 3,900 customer transactions. We used Python for data cleaning, SQL for business queries, and Power BI for visualization. Our goal is to turn raw shopping data into actionable business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designed to help business stakeholders understand not just what customers buy, but why and how. By combining Python-based data engineering with SQL analytics and Power BI visualization, we created a full analytical pipeline from raw data to actionable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covers 3,900 unique customer transactions with 18 columns spanning demographics, purchase details, and behavioral attributes. The only quality issue was 37 missing values in the Review Rating column, which were handled via median imputation by product category — a statistically sound approach that preserves data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we ensured data quality through a systematic six-step pipeline. The most business-critical decision was removing the redundant promo_code_used column — our analysis confirmed it was identical to discount_applied, which would have distorted any discount analysis. Feature engineering enabled age-group segmentation and frequency analysis that drove our customer loyalty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Male customers generate over twice the revenue of female customers. This could reflect a higher average transaction value, greater purchase frequency, or a larger customer base — all of which merit further segmentation. The key business takeaway is that the female segment represents a growth opportunity, not an underperforming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insight here is counterintuitive: customers who used discounts still spent above average. This means discounts are working as an acquisition tool for high-value buyers, not just bargain hunters. However, some products like Hat and Sneakers show near 50% discount dependency — meaning they may struggle to sell at full price. The business should review margin impact on these SKUs.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ratings are relatively tightly clustered between 3.75 and 3.86, suggesting consistent quality across the catalog. Gloves, Sandals, and Boots lead on customer satisfaction. These products should be featured prominently in marketing campaigns. The top-sellers by category show Jewelry, Blouse, Sandals, and Jacket as category leaders by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$2.02 difference per transaction may seem small, it signals a meaningful behavioral difference. Express shipping users are prepared to pay more and act faster. This segment should be targeted with premium products and upsell nudges. A 'free express shipping on orders over $X' promotion could shift more customers into higher AOV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near-identical average spend between subscribers and non-subscribers is a critical finding. Subscriptions currently don't drive incremental spend per transaction — they need to be re-positioned. Adding exclusive subscriber perks (early access, free shipping thresholds, member-only discounts) can create a meaningful spend differential and improve subscriber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striking finding: 79.9% of customers are Loyal — they've purchased 6 or more times. This is excellent baseline retention. However, only 2.1% are New customers, which signals either very low acquisition or near-perfect retention (or both). The business should focus on (1) protecting its loyal base with reward programs, and (2) aggressively growing the New segment through acquisition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Young Adults are the top revenue contributors, which aligns with typical e-commerce demographics. However, the relatively balanced revenue across all four age groups is a business strength — it means the company isn't over-reliant on a single demographic. Senior engagement is notable and should be nurtured with accessible design and relevant product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recommendations map directly to the data findings. Prioritize by impact: (1) Subscription enhancement has the highest upside given 73% non-subscription rate. (2) Loyalty programs protect the 79.9% loyal base — the company's strongest asset. (3) Discount policy review protects margins. (4) Product positioning leverages what's already working. (5) Targeted marketing optimizes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A3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C3F7"/>
          </a:solidFill>
          <a:ln w="12700">
            <a:solidFill>
              <a:srgbClr val="4FC3F7"/>
            </a:solidFill>
            <a:prstDash val="solid"/>
          </a:ln>
        </p:spPr>
      </p:sp>
      <p:sp>
        <p:nvSpPr>
          <p:cNvPr id="3" name="Shape 1"/>
          <p:cNvSpPr/>
          <p:nvPr/>
        </p:nvSpPr>
        <p:spPr>
          <a:xfrm>
            <a:off x="7132320" y="-548640"/>
            <a:ext cx="2560320" cy="2560320"/>
          </a:xfrm>
          <a:prstGeom prst="ellipse">
            <a:avLst/>
          </a:prstGeom>
          <a:solidFill>
            <a:srgbClr val="2A3F7E"/>
          </a:solidFill>
          <a:ln w="12700">
            <a:solidFill>
              <a:srgbClr val="2A3F7E"/>
            </a:solidFill>
            <a:prstDash val="solid"/>
          </a:ln>
        </p:spPr>
      </p:sp>
      <p:sp>
        <p:nvSpPr>
          <p:cNvPr id="4" name="Shape 2"/>
          <p:cNvSpPr/>
          <p:nvPr/>
        </p:nvSpPr>
        <p:spPr>
          <a:xfrm>
            <a:off x="7498080" y="-182880"/>
            <a:ext cx="2011680" cy="2011680"/>
          </a:xfrm>
          <a:prstGeom prst="ellipse">
            <a:avLst/>
          </a:prstGeom>
          <a:solidFill>
            <a:srgbClr val="1E2761"/>
          </a:solidFill>
          <a:ln w="12700">
            <a:solidFill>
              <a:srgbClr val="1E2761"/>
            </a:solidFill>
            <a:prstDash val="solid"/>
          </a:ln>
        </p:spPr>
      </p:sp>
      <p:sp>
        <p:nvSpPr>
          <p:cNvPr id="5" name="Text 3"/>
          <p:cNvSpPr/>
          <p:nvPr/>
        </p:nvSpPr>
        <p:spPr>
          <a:xfrm>
            <a:off x="457200" y="1097280"/>
            <a:ext cx="8229600" cy="82296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Customer Shopping Behavior</a:t>
            </a:r>
            <a:endParaRPr lang="en-US" sz="3800" dirty="0"/>
          </a:p>
        </p:txBody>
      </p:sp>
      <p:sp>
        <p:nvSpPr>
          <p:cNvPr id="6" name="Text 4"/>
          <p:cNvSpPr/>
          <p:nvPr/>
        </p:nvSpPr>
        <p:spPr>
          <a:xfrm>
            <a:off x="457200" y="1828800"/>
            <a:ext cx="8229600" cy="731520"/>
          </a:xfrm>
          <a:prstGeom prst="rect">
            <a:avLst/>
          </a:prstGeom>
          <a:noFill/>
          <a:ln/>
        </p:spPr>
        <p:txBody>
          <a:bodyPr wrap="square" rtlCol="0" anchor="ctr"/>
          <a:lstStyle/>
          <a:p>
            <a:pPr algn="l" indent="0" marL="0">
              <a:buNone/>
            </a:pPr>
            <a:r>
              <a:rPr lang="en-US" sz="3800" b="1" dirty="0">
                <a:solidFill>
                  <a:srgbClr val="4FC3F7"/>
                </a:solidFill>
                <a:latin typeface="Calibri" pitchFamily="34" charset="0"/>
                <a:ea typeface="Calibri" pitchFamily="34" charset="-122"/>
                <a:cs typeface="Calibri" pitchFamily="34" charset="-120"/>
              </a:rPr>
              <a:t>&amp; Interaction Analysis</a:t>
            </a:r>
            <a:endParaRPr lang="en-US" sz="3800" dirty="0"/>
          </a:p>
        </p:txBody>
      </p:sp>
      <p:sp>
        <p:nvSpPr>
          <p:cNvPr id="7" name="Text 5"/>
          <p:cNvSpPr/>
          <p:nvPr/>
        </p:nvSpPr>
        <p:spPr>
          <a:xfrm>
            <a:off x="457200" y="2697480"/>
            <a:ext cx="7315200" cy="4114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Strategic Insights from 3,900 Transactions</a:t>
            </a:r>
            <a:endParaRPr lang="en-US" sz="1600" dirty="0"/>
          </a:p>
        </p:txBody>
      </p:sp>
      <p:sp>
        <p:nvSpPr>
          <p:cNvPr id="8" name="Shape 6"/>
          <p:cNvSpPr/>
          <p:nvPr/>
        </p:nvSpPr>
        <p:spPr>
          <a:xfrm>
            <a:off x="457200" y="3337560"/>
            <a:ext cx="1920240" cy="1280160"/>
          </a:xfrm>
          <a:prstGeom prst="rect">
            <a:avLst/>
          </a:prstGeom>
          <a:solidFill>
            <a:srgbClr val="2A3F7E"/>
          </a:solidFill>
          <a:ln w="12700">
            <a:solidFill>
              <a:srgbClr val="4FC3F7"/>
            </a:solidFill>
            <a:prstDash val="solid"/>
          </a:ln>
        </p:spPr>
      </p:sp>
      <p:sp>
        <p:nvSpPr>
          <p:cNvPr id="9" name="Text 7"/>
          <p:cNvSpPr/>
          <p:nvPr/>
        </p:nvSpPr>
        <p:spPr>
          <a:xfrm>
            <a:off x="457200" y="3401568"/>
            <a:ext cx="1920240" cy="59436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3,900</a:t>
            </a:r>
            <a:endParaRPr lang="en-US" sz="2200" dirty="0"/>
          </a:p>
        </p:txBody>
      </p:sp>
      <p:sp>
        <p:nvSpPr>
          <p:cNvPr id="10" name="Text 8"/>
          <p:cNvSpPr/>
          <p:nvPr/>
        </p:nvSpPr>
        <p:spPr>
          <a:xfrm>
            <a:off x="457200" y="39319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Transactions</a:t>
            </a:r>
            <a:endParaRPr lang="en-US" sz="1200" dirty="0"/>
          </a:p>
        </p:txBody>
      </p:sp>
      <p:sp>
        <p:nvSpPr>
          <p:cNvPr id="11" name="Shape 9"/>
          <p:cNvSpPr/>
          <p:nvPr/>
        </p:nvSpPr>
        <p:spPr>
          <a:xfrm>
            <a:off x="2606040" y="3337560"/>
            <a:ext cx="1920240" cy="1280160"/>
          </a:xfrm>
          <a:prstGeom prst="rect">
            <a:avLst/>
          </a:prstGeom>
          <a:solidFill>
            <a:srgbClr val="2A3F7E"/>
          </a:solidFill>
          <a:ln w="12700">
            <a:solidFill>
              <a:srgbClr val="4FC3F7"/>
            </a:solidFill>
            <a:prstDash val="solid"/>
          </a:ln>
        </p:spPr>
      </p:sp>
      <p:sp>
        <p:nvSpPr>
          <p:cNvPr id="12" name="Text 10"/>
          <p:cNvSpPr/>
          <p:nvPr/>
        </p:nvSpPr>
        <p:spPr>
          <a:xfrm>
            <a:off x="2606040" y="3401568"/>
            <a:ext cx="1920240" cy="59436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18</a:t>
            </a:r>
            <a:endParaRPr lang="en-US" sz="2200" dirty="0"/>
          </a:p>
        </p:txBody>
      </p:sp>
      <p:sp>
        <p:nvSpPr>
          <p:cNvPr id="13" name="Text 11"/>
          <p:cNvSpPr/>
          <p:nvPr/>
        </p:nvSpPr>
        <p:spPr>
          <a:xfrm>
            <a:off x="2606040" y="39319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Features</a:t>
            </a:r>
            <a:endParaRPr lang="en-US" sz="1200" dirty="0"/>
          </a:p>
        </p:txBody>
      </p:sp>
      <p:sp>
        <p:nvSpPr>
          <p:cNvPr id="14" name="Shape 12"/>
          <p:cNvSpPr/>
          <p:nvPr/>
        </p:nvSpPr>
        <p:spPr>
          <a:xfrm>
            <a:off x="4754880" y="3337560"/>
            <a:ext cx="1920240" cy="1280160"/>
          </a:xfrm>
          <a:prstGeom prst="rect">
            <a:avLst/>
          </a:prstGeom>
          <a:solidFill>
            <a:srgbClr val="2A3F7E"/>
          </a:solidFill>
          <a:ln w="12700">
            <a:solidFill>
              <a:srgbClr val="4FC3F7"/>
            </a:solidFill>
            <a:prstDash val="solid"/>
          </a:ln>
        </p:spPr>
      </p:sp>
      <p:sp>
        <p:nvSpPr>
          <p:cNvPr id="15" name="Text 13"/>
          <p:cNvSpPr/>
          <p:nvPr/>
        </p:nvSpPr>
        <p:spPr>
          <a:xfrm>
            <a:off x="4754880" y="3401568"/>
            <a:ext cx="1920240" cy="59436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$59.76</a:t>
            </a:r>
            <a:endParaRPr lang="en-US" sz="2200" dirty="0"/>
          </a:p>
        </p:txBody>
      </p:sp>
      <p:sp>
        <p:nvSpPr>
          <p:cNvPr id="16" name="Text 14"/>
          <p:cNvSpPr/>
          <p:nvPr/>
        </p:nvSpPr>
        <p:spPr>
          <a:xfrm>
            <a:off x="4754880" y="39319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Avg Purchase</a:t>
            </a:r>
            <a:endParaRPr lang="en-US" sz="1200" dirty="0"/>
          </a:p>
        </p:txBody>
      </p:sp>
      <p:sp>
        <p:nvSpPr>
          <p:cNvPr id="17" name="Shape 15"/>
          <p:cNvSpPr/>
          <p:nvPr/>
        </p:nvSpPr>
        <p:spPr>
          <a:xfrm>
            <a:off x="6903720" y="3337560"/>
            <a:ext cx="1920240" cy="1280160"/>
          </a:xfrm>
          <a:prstGeom prst="rect">
            <a:avLst/>
          </a:prstGeom>
          <a:solidFill>
            <a:srgbClr val="2A3F7E"/>
          </a:solidFill>
          <a:ln w="12700">
            <a:solidFill>
              <a:srgbClr val="4FC3F7"/>
            </a:solidFill>
            <a:prstDash val="solid"/>
          </a:ln>
        </p:spPr>
      </p:sp>
      <p:sp>
        <p:nvSpPr>
          <p:cNvPr id="18" name="Text 16"/>
          <p:cNvSpPr/>
          <p:nvPr/>
        </p:nvSpPr>
        <p:spPr>
          <a:xfrm>
            <a:off x="6903720" y="3401568"/>
            <a:ext cx="1920240" cy="59436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3.75</a:t>
            </a:r>
            <a:endParaRPr lang="en-US" sz="2200" dirty="0"/>
          </a:p>
        </p:txBody>
      </p:sp>
      <p:sp>
        <p:nvSpPr>
          <p:cNvPr id="19" name="Text 17"/>
          <p:cNvSpPr/>
          <p:nvPr/>
        </p:nvSpPr>
        <p:spPr>
          <a:xfrm>
            <a:off x="6903720" y="39319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Avg Rating</a:t>
            </a:r>
            <a:endParaRPr lang="en-US" sz="1200" dirty="0"/>
          </a:p>
        </p:txBody>
      </p:sp>
      <p:sp>
        <p:nvSpPr>
          <p:cNvPr id="20" name="Text 18"/>
          <p:cNvSpPr/>
          <p:nvPr/>
        </p:nvSpPr>
        <p:spPr>
          <a:xfrm>
            <a:off x="457200" y="4754880"/>
            <a:ext cx="8229600" cy="274320"/>
          </a:xfrm>
          <a:prstGeom prst="rect">
            <a:avLst/>
          </a:prstGeom>
          <a:noFill/>
          <a:ln/>
        </p:spPr>
        <p:txBody>
          <a:bodyPr wrap="square"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Data Analysis · Python · SQL · Power BI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365760" y="960120"/>
            <a:ext cx="3931920" cy="3474720"/>
          </a:xfrm>
          <a:prstGeom prst="rect">
            <a:avLst/>
          </a:prstGeom>
          <a:solidFill>
            <a:srgbClr val="FFFFFF"/>
          </a:solidFill>
          <a:ln w="12700">
            <a:solidFill>
              <a:srgbClr val="CADCFC"/>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457200" y="1051560"/>
            <a:ext cx="3749040" cy="4114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  Objective</a:t>
            </a:r>
            <a:endParaRPr lang="en-US" sz="1500" dirty="0"/>
          </a:p>
        </p:txBody>
      </p:sp>
      <p:sp>
        <p:nvSpPr>
          <p:cNvPr id="6" name="Text 4"/>
          <p:cNvSpPr/>
          <p:nvPr/>
        </p:nvSpPr>
        <p:spPr>
          <a:xfrm>
            <a:off x="502920" y="1508760"/>
            <a:ext cx="3657600" cy="2743200"/>
          </a:xfrm>
          <a:prstGeom prst="rect">
            <a:avLst/>
          </a:prstGeom>
          <a:noFill/>
          <a:ln/>
        </p:spPr>
        <p:txBody>
          <a:bodyPr wrap="square"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Analyze customer shopping behavior to uncover insights on:</a:t>
            </a:r>
            <a:endParaRPr lang="en-US" sz="1300" dirty="0"/>
          </a:p>
          <a:p>
            <a:pPr marL="342900" indent="-342900">
              <a:lnSpc>
                <a:spcPct val="130000"/>
              </a:lnSpc>
              <a:buSzPct val="100000"/>
              <a:buChar char="•"/>
            </a:pPr>
            <a:r>
              <a:rPr lang="en-US" sz="1300" dirty="0">
                <a:solidFill>
                  <a:srgbClr val="1E293B"/>
                </a:solidFill>
                <a:latin typeface="Calibri" pitchFamily="34" charset="0"/>
                <a:ea typeface="Calibri" pitchFamily="34" charset="-122"/>
                <a:cs typeface="Calibri" pitchFamily="34" charset="-120"/>
              </a:rPr>
              <a:t>Spending patterns &amp; trends</a:t>
            </a:r>
            <a:endParaRPr lang="en-US" sz="1300" dirty="0"/>
          </a:p>
          <a:p>
            <a:pPr marL="342900" indent="-342900">
              <a:lnSpc>
                <a:spcPct val="130000"/>
              </a:lnSpc>
              <a:buSzPct val="100000"/>
              <a:buChar char="•"/>
            </a:pPr>
            <a:r>
              <a:rPr lang="en-US" sz="1300" dirty="0">
                <a:solidFill>
                  <a:srgbClr val="1E293B"/>
                </a:solidFill>
                <a:latin typeface="Calibri" pitchFamily="34" charset="0"/>
                <a:ea typeface="Calibri" pitchFamily="34" charset="-122"/>
                <a:cs typeface="Calibri" pitchFamily="34" charset="-120"/>
              </a:rPr>
              <a:t>Customer segmentation</a:t>
            </a:r>
            <a:endParaRPr lang="en-US" sz="1300" dirty="0"/>
          </a:p>
          <a:p>
            <a:pPr marL="342900" indent="-342900">
              <a:lnSpc>
                <a:spcPct val="130000"/>
              </a:lnSpc>
              <a:buSzPct val="100000"/>
              <a:buChar char="•"/>
            </a:pPr>
            <a:r>
              <a:rPr lang="en-US" sz="1300" dirty="0">
                <a:solidFill>
                  <a:srgbClr val="1E293B"/>
                </a:solidFill>
                <a:latin typeface="Calibri" pitchFamily="34" charset="0"/>
                <a:ea typeface="Calibri" pitchFamily="34" charset="-122"/>
                <a:cs typeface="Calibri" pitchFamily="34" charset="-120"/>
              </a:rPr>
              <a:t>Product preferences</a:t>
            </a:r>
            <a:endParaRPr lang="en-US" sz="1300" dirty="0"/>
          </a:p>
          <a:p>
            <a:pPr marL="342900" indent="-342900">
              <a:lnSpc>
                <a:spcPct val="130000"/>
              </a:lnSpc>
              <a:buSzPct val="100000"/>
              <a:buChar char="•"/>
            </a:pPr>
            <a:r>
              <a:rPr lang="en-US" sz="1300" dirty="0">
                <a:solidFill>
                  <a:srgbClr val="1E293B"/>
                </a:solidFill>
                <a:latin typeface="Calibri" pitchFamily="34" charset="0"/>
                <a:ea typeface="Calibri" pitchFamily="34" charset="-122"/>
                <a:cs typeface="Calibri" pitchFamily="34" charset="-120"/>
              </a:rPr>
              <a:t>Subscription &amp; loyalty behavior</a:t>
            </a:r>
            <a:endParaRPr lang="en-US" sz="1300" dirty="0"/>
          </a:p>
          <a:p>
            <a:pPr marL="342900" indent="-342900">
              <a:lnSpc>
                <a:spcPct val="130000"/>
              </a:lnSpc>
              <a:buSzPct val="100000"/>
              <a:buChar char="•"/>
            </a:pPr>
            <a:r>
              <a:rPr lang="en-US" sz="1300" dirty="0">
                <a:solidFill>
                  <a:srgbClr val="1E293B"/>
                </a:solidFill>
                <a:latin typeface="Calibri" pitchFamily="34" charset="0"/>
                <a:ea typeface="Calibri" pitchFamily="34" charset="-122"/>
                <a:cs typeface="Calibri" pitchFamily="34" charset="-120"/>
              </a:rPr>
              <a:t>Guide strategic business decisions with data</a:t>
            </a:r>
            <a:endParaRPr lang="en-US" sz="1300" dirty="0"/>
          </a:p>
        </p:txBody>
      </p:sp>
      <p:sp>
        <p:nvSpPr>
          <p:cNvPr id="7" name="Shape 5"/>
          <p:cNvSpPr/>
          <p:nvPr/>
        </p:nvSpPr>
        <p:spPr>
          <a:xfrm>
            <a:off x="4846320" y="960120"/>
            <a:ext cx="3931920" cy="3474720"/>
          </a:xfrm>
          <a:prstGeom prst="rect">
            <a:avLst/>
          </a:prstGeom>
          <a:solidFill>
            <a:srgbClr val="FFFFFF"/>
          </a:solidFill>
          <a:ln w="12700">
            <a:solidFill>
              <a:srgbClr val="CADCFC"/>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4937760" y="1051560"/>
            <a:ext cx="3749040" cy="4114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  Tools &amp; Methodology</a:t>
            </a:r>
            <a:endParaRPr lang="en-US" sz="1500" dirty="0"/>
          </a:p>
        </p:txBody>
      </p:sp>
      <p:sp>
        <p:nvSpPr>
          <p:cNvPr id="9" name="Shape 7"/>
          <p:cNvSpPr/>
          <p:nvPr/>
        </p:nvSpPr>
        <p:spPr>
          <a:xfrm>
            <a:off x="4983480" y="1572768"/>
            <a:ext cx="3657600" cy="777240"/>
          </a:xfrm>
          <a:prstGeom prst="rect">
            <a:avLst/>
          </a:prstGeom>
          <a:solidFill>
            <a:srgbClr val="F0F4FF"/>
          </a:solidFill>
          <a:ln w="12700">
            <a:solidFill>
              <a:srgbClr val="CADCFC"/>
            </a:solidFill>
            <a:prstDash val="solid"/>
          </a:ln>
        </p:spPr>
      </p:sp>
      <p:sp>
        <p:nvSpPr>
          <p:cNvPr id="10" name="Text 8"/>
          <p:cNvSpPr/>
          <p:nvPr/>
        </p:nvSpPr>
        <p:spPr>
          <a:xfrm>
            <a:off x="5120640" y="1627632"/>
            <a:ext cx="3474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Python</a:t>
            </a:r>
            <a:endParaRPr lang="en-US" sz="1300" dirty="0"/>
          </a:p>
        </p:txBody>
      </p:sp>
      <p:sp>
        <p:nvSpPr>
          <p:cNvPr id="11" name="Text 9"/>
          <p:cNvSpPr/>
          <p:nvPr/>
        </p:nvSpPr>
        <p:spPr>
          <a:xfrm>
            <a:off x="5120640" y="1956816"/>
            <a:ext cx="347472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Data cleaning &amp; EDA</a:t>
            </a:r>
            <a:endParaRPr lang="en-US" sz="1100" dirty="0"/>
          </a:p>
        </p:txBody>
      </p:sp>
      <p:sp>
        <p:nvSpPr>
          <p:cNvPr id="12" name="Shape 10"/>
          <p:cNvSpPr/>
          <p:nvPr/>
        </p:nvSpPr>
        <p:spPr>
          <a:xfrm>
            <a:off x="4983480" y="2578608"/>
            <a:ext cx="3657600" cy="777240"/>
          </a:xfrm>
          <a:prstGeom prst="rect">
            <a:avLst/>
          </a:prstGeom>
          <a:solidFill>
            <a:srgbClr val="F0F4FF"/>
          </a:solidFill>
          <a:ln w="12700">
            <a:solidFill>
              <a:srgbClr val="CADCFC"/>
            </a:solidFill>
            <a:prstDash val="solid"/>
          </a:ln>
        </p:spPr>
      </p:sp>
      <p:sp>
        <p:nvSpPr>
          <p:cNvPr id="13" name="Text 11"/>
          <p:cNvSpPr/>
          <p:nvPr/>
        </p:nvSpPr>
        <p:spPr>
          <a:xfrm>
            <a:off x="5120640" y="2633472"/>
            <a:ext cx="3474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MySQL</a:t>
            </a:r>
            <a:endParaRPr lang="en-US" sz="1300" dirty="0"/>
          </a:p>
        </p:txBody>
      </p:sp>
      <p:sp>
        <p:nvSpPr>
          <p:cNvPr id="14" name="Text 12"/>
          <p:cNvSpPr/>
          <p:nvPr/>
        </p:nvSpPr>
        <p:spPr>
          <a:xfrm>
            <a:off x="5120640" y="2962656"/>
            <a:ext cx="347472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Business SQL queries</a:t>
            </a:r>
            <a:endParaRPr lang="en-US" sz="1100" dirty="0"/>
          </a:p>
        </p:txBody>
      </p:sp>
      <p:sp>
        <p:nvSpPr>
          <p:cNvPr id="15" name="Shape 13"/>
          <p:cNvSpPr/>
          <p:nvPr/>
        </p:nvSpPr>
        <p:spPr>
          <a:xfrm>
            <a:off x="4983480" y="3584448"/>
            <a:ext cx="3657600" cy="777240"/>
          </a:xfrm>
          <a:prstGeom prst="rect">
            <a:avLst/>
          </a:prstGeom>
          <a:solidFill>
            <a:srgbClr val="F0F4FF"/>
          </a:solidFill>
          <a:ln w="12700">
            <a:solidFill>
              <a:srgbClr val="CADCFC"/>
            </a:solidFill>
            <a:prstDash val="solid"/>
          </a:ln>
        </p:spPr>
      </p:sp>
      <p:sp>
        <p:nvSpPr>
          <p:cNvPr id="16" name="Text 14"/>
          <p:cNvSpPr/>
          <p:nvPr/>
        </p:nvSpPr>
        <p:spPr>
          <a:xfrm>
            <a:off x="5120640" y="3639312"/>
            <a:ext cx="3474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Power BI</a:t>
            </a:r>
            <a:endParaRPr lang="en-US" sz="1300" dirty="0"/>
          </a:p>
        </p:txBody>
      </p:sp>
      <p:sp>
        <p:nvSpPr>
          <p:cNvPr id="17" name="Text 15"/>
          <p:cNvSpPr/>
          <p:nvPr/>
        </p:nvSpPr>
        <p:spPr>
          <a:xfrm>
            <a:off x="5120640" y="3968496"/>
            <a:ext cx="347472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Interactive dashboard</a:t>
            </a:r>
            <a:endParaRPr lang="en-US" sz="1100" dirty="0"/>
          </a:p>
        </p:txBody>
      </p:sp>
      <p:sp>
        <p:nvSpPr>
          <p:cNvPr id="18" name="Text 16"/>
          <p:cNvSpPr/>
          <p:nvPr/>
        </p:nvSpPr>
        <p:spPr>
          <a:xfrm>
            <a:off x="365760" y="4709160"/>
            <a:ext cx="8412480" cy="2286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Pipeline / Methodology Flow Diagram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Dataset Summary</a:t>
            </a:r>
            <a:endParaRPr lang="en-US" sz="2600" dirty="0"/>
          </a:p>
        </p:txBody>
      </p:sp>
      <p:sp>
        <p:nvSpPr>
          <p:cNvPr id="4" name="Shape 2"/>
          <p:cNvSpPr/>
          <p:nvPr/>
        </p:nvSpPr>
        <p:spPr>
          <a:xfrm>
            <a:off x="365760" y="960120"/>
            <a:ext cx="2560320" cy="1417320"/>
          </a:xfrm>
          <a:prstGeom prst="rect">
            <a:avLst/>
          </a:prstGeom>
          <a:solidFill>
            <a:srgbClr val="1E2761"/>
          </a:solidFill>
          <a:ln w="12700">
            <a:solidFill>
              <a:srgbClr val="1E2761"/>
            </a:solidFill>
            <a:prstDash val="solid"/>
          </a:ln>
        </p:spPr>
      </p:sp>
      <p:sp>
        <p:nvSpPr>
          <p:cNvPr id="5" name="Text 3"/>
          <p:cNvSpPr/>
          <p:nvPr/>
        </p:nvSpPr>
        <p:spPr>
          <a:xfrm>
            <a:off x="365760" y="1005840"/>
            <a:ext cx="256032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365760" y="1371600"/>
            <a:ext cx="2560320" cy="41148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3,900</a:t>
            </a:r>
            <a:endParaRPr lang="en-US" sz="2200" dirty="0"/>
          </a:p>
        </p:txBody>
      </p:sp>
      <p:sp>
        <p:nvSpPr>
          <p:cNvPr id="7" name="Text 5"/>
          <p:cNvSpPr/>
          <p:nvPr/>
        </p:nvSpPr>
        <p:spPr>
          <a:xfrm>
            <a:off x="365760" y="1755648"/>
            <a:ext cx="256032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Customer Records</a:t>
            </a:r>
            <a:endParaRPr lang="en-US" sz="1100" dirty="0"/>
          </a:p>
        </p:txBody>
      </p:sp>
      <p:sp>
        <p:nvSpPr>
          <p:cNvPr id="8" name="Shape 6"/>
          <p:cNvSpPr/>
          <p:nvPr/>
        </p:nvSpPr>
        <p:spPr>
          <a:xfrm>
            <a:off x="3200400" y="960120"/>
            <a:ext cx="2560320" cy="1417320"/>
          </a:xfrm>
          <a:prstGeom prst="rect">
            <a:avLst/>
          </a:prstGeom>
          <a:solidFill>
            <a:srgbClr val="1E2761"/>
          </a:solidFill>
          <a:ln w="12700">
            <a:solidFill>
              <a:srgbClr val="1E2761"/>
            </a:solidFill>
            <a:prstDash val="solid"/>
          </a:ln>
        </p:spPr>
      </p:sp>
      <p:sp>
        <p:nvSpPr>
          <p:cNvPr id="9" name="Text 7"/>
          <p:cNvSpPr/>
          <p:nvPr/>
        </p:nvSpPr>
        <p:spPr>
          <a:xfrm>
            <a:off x="3200400" y="1005840"/>
            <a:ext cx="256032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3200400" y="1371600"/>
            <a:ext cx="2560320" cy="41148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18</a:t>
            </a:r>
            <a:endParaRPr lang="en-US" sz="2200" dirty="0"/>
          </a:p>
        </p:txBody>
      </p:sp>
      <p:sp>
        <p:nvSpPr>
          <p:cNvPr id="11" name="Text 9"/>
          <p:cNvSpPr/>
          <p:nvPr/>
        </p:nvSpPr>
        <p:spPr>
          <a:xfrm>
            <a:off x="3200400" y="1755648"/>
            <a:ext cx="256032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Data Columns</a:t>
            </a:r>
            <a:endParaRPr lang="en-US" sz="1100" dirty="0"/>
          </a:p>
        </p:txBody>
      </p:sp>
      <p:sp>
        <p:nvSpPr>
          <p:cNvPr id="12" name="Shape 10"/>
          <p:cNvSpPr/>
          <p:nvPr/>
        </p:nvSpPr>
        <p:spPr>
          <a:xfrm>
            <a:off x="6035040" y="960120"/>
            <a:ext cx="2560320" cy="1417320"/>
          </a:xfrm>
          <a:prstGeom prst="rect">
            <a:avLst/>
          </a:prstGeom>
          <a:solidFill>
            <a:srgbClr val="1E2761"/>
          </a:solidFill>
          <a:ln w="12700">
            <a:solidFill>
              <a:srgbClr val="1E2761"/>
            </a:solidFill>
            <a:prstDash val="solid"/>
          </a:ln>
        </p:spPr>
      </p:sp>
      <p:sp>
        <p:nvSpPr>
          <p:cNvPr id="13" name="Text 11"/>
          <p:cNvSpPr/>
          <p:nvPr/>
        </p:nvSpPr>
        <p:spPr>
          <a:xfrm>
            <a:off x="6035040" y="1005840"/>
            <a:ext cx="2560320" cy="41148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6035040" y="1371600"/>
            <a:ext cx="2560320" cy="411480"/>
          </a:xfrm>
          <a:prstGeom prst="rect">
            <a:avLst/>
          </a:prstGeom>
          <a:noFill/>
          <a:ln/>
        </p:spPr>
        <p:txBody>
          <a:bodyPr wrap="square" rtlCol="0" anchor="ctr"/>
          <a:lstStyle/>
          <a:p>
            <a:pPr algn="ctr" indent="0" marL="0">
              <a:buNone/>
            </a:pPr>
            <a:r>
              <a:rPr lang="en-US" sz="2200" b="1" dirty="0">
                <a:solidFill>
                  <a:srgbClr val="F9A825"/>
                </a:solidFill>
                <a:latin typeface="Calibri" pitchFamily="34" charset="0"/>
                <a:ea typeface="Calibri" pitchFamily="34" charset="-122"/>
                <a:cs typeface="Calibri" pitchFamily="34" charset="-120"/>
              </a:rPr>
              <a:t>37</a:t>
            </a:r>
            <a:endParaRPr lang="en-US" sz="2200" dirty="0"/>
          </a:p>
        </p:txBody>
      </p:sp>
      <p:sp>
        <p:nvSpPr>
          <p:cNvPr id="15" name="Text 13"/>
          <p:cNvSpPr/>
          <p:nvPr/>
        </p:nvSpPr>
        <p:spPr>
          <a:xfrm>
            <a:off x="6035040" y="1755648"/>
            <a:ext cx="256032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Missing Ratings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(Imputed)</a:t>
            </a:r>
            <a:endParaRPr lang="en-US" sz="1100" dirty="0"/>
          </a:p>
        </p:txBody>
      </p:sp>
      <p:sp>
        <p:nvSpPr>
          <p:cNvPr id="16" name="Shape 14"/>
          <p:cNvSpPr/>
          <p:nvPr/>
        </p:nvSpPr>
        <p:spPr>
          <a:xfrm>
            <a:off x="365760" y="2560320"/>
            <a:ext cx="2560320" cy="2286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365760" y="2560320"/>
            <a:ext cx="2560320" cy="347472"/>
          </a:xfrm>
          <a:prstGeom prst="rect">
            <a:avLst/>
          </a:prstGeom>
          <a:solidFill>
            <a:srgbClr val="2A3F7E"/>
          </a:solidFill>
          <a:ln w="12700">
            <a:solidFill>
              <a:srgbClr val="2A3F7E"/>
            </a:solidFill>
            <a:prstDash val="solid"/>
          </a:ln>
        </p:spPr>
      </p:sp>
      <p:sp>
        <p:nvSpPr>
          <p:cNvPr id="18" name="Text 16"/>
          <p:cNvSpPr/>
          <p:nvPr/>
        </p:nvSpPr>
        <p:spPr>
          <a:xfrm>
            <a:off x="457200" y="2606040"/>
            <a:ext cx="23774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Demographics</a:t>
            </a:r>
            <a:endParaRPr lang="en-US" sz="1200" dirty="0"/>
          </a:p>
        </p:txBody>
      </p:sp>
      <p:sp>
        <p:nvSpPr>
          <p:cNvPr id="19" name="Text 17"/>
          <p:cNvSpPr/>
          <p:nvPr/>
        </p:nvSpPr>
        <p:spPr>
          <a:xfrm>
            <a:off x="457200" y="2971800"/>
            <a:ext cx="2377440" cy="1737360"/>
          </a:xfrm>
          <a:prstGeom prst="rect">
            <a:avLst/>
          </a:prstGeom>
          <a:noFill/>
          <a:ln/>
        </p:spPr>
        <p:txBody>
          <a:bodyPr wrap="square" rtlCol="0" anchor="ctr"/>
          <a:lstStyle/>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Age</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Gender</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Location</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Subscription Status</a:t>
            </a:r>
            <a:endParaRPr lang="en-US" sz="1200" dirty="0"/>
          </a:p>
        </p:txBody>
      </p:sp>
      <p:sp>
        <p:nvSpPr>
          <p:cNvPr id="20" name="Shape 18"/>
          <p:cNvSpPr/>
          <p:nvPr/>
        </p:nvSpPr>
        <p:spPr>
          <a:xfrm>
            <a:off x="3200400" y="2560320"/>
            <a:ext cx="2560320" cy="2286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200400" y="2560320"/>
            <a:ext cx="2560320" cy="347472"/>
          </a:xfrm>
          <a:prstGeom prst="rect">
            <a:avLst/>
          </a:prstGeom>
          <a:solidFill>
            <a:srgbClr val="2A3F7E"/>
          </a:solidFill>
          <a:ln w="12700">
            <a:solidFill>
              <a:srgbClr val="2A3F7E"/>
            </a:solidFill>
            <a:prstDash val="solid"/>
          </a:ln>
        </p:spPr>
      </p:sp>
      <p:sp>
        <p:nvSpPr>
          <p:cNvPr id="22" name="Text 20"/>
          <p:cNvSpPr/>
          <p:nvPr/>
        </p:nvSpPr>
        <p:spPr>
          <a:xfrm>
            <a:off x="3291840" y="2606040"/>
            <a:ext cx="23774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Purchase Details</a:t>
            </a:r>
            <a:endParaRPr lang="en-US" sz="1200" dirty="0"/>
          </a:p>
        </p:txBody>
      </p:sp>
      <p:sp>
        <p:nvSpPr>
          <p:cNvPr id="23" name="Text 21"/>
          <p:cNvSpPr/>
          <p:nvPr/>
        </p:nvSpPr>
        <p:spPr>
          <a:xfrm>
            <a:off x="3291840" y="2971800"/>
            <a:ext cx="2377440" cy="1737360"/>
          </a:xfrm>
          <a:prstGeom prst="rect">
            <a:avLst/>
          </a:prstGeom>
          <a:noFill/>
          <a:ln/>
        </p:spPr>
        <p:txBody>
          <a:bodyPr wrap="square" rtlCol="0" anchor="ctr"/>
          <a:lstStyle/>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Item, Category, Amount</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Season, Size, Color</a:t>
            </a:r>
            <a:endParaRPr lang="en-US" sz="1200" dirty="0"/>
          </a:p>
        </p:txBody>
      </p:sp>
      <p:sp>
        <p:nvSpPr>
          <p:cNvPr id="24" name="Shape 22"/>
          <p:cNvSpPr/>
          <p:nvPr/>
        </p:nvSpPr>
        <p:spPr>
          <a:xfrm>
            <a:off x="6035040" y="2560320"/>
            <a:ext cx="2560320" cy="2286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6035040" y="2560320"/>
            <a:ext cx="2560320" cy="347472"/>
          </a:xfrm>
          <a:prstGeom prst="rect">
            <a:avLst/>
          </a:prstGeom>
          <a:solidFill>
            <a:srgbClr val="2A3F7E"/>
          </a:solidFill>
          <a:ln w="12700">
            <a:solidFill>
              <a:srgbClr val="2A3F7E"/>
            </a:solidFill>
            <a:prstDash val="solid"/>
          </a:ln>
        </p:spPr>
      </p:sp>
      <p:sp>
        <p:nvSpPr>
          <p:cNvPr id="26" name="Text 24"/>
          <p:cNvSpPr/>
          <p:nvPr/>
        </p:nvSpPr>
        <p:spPr>
          <a:xfrm>
            <a:off x="6126480" y="2606040"/>
            <a:ext cx="23774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Behavior</a:t>
            </a:r>
            <a:endParaRPr lang="en-US" sz="1200" dirty="0"/>
          </a:p>
        </p:txBody>
      </p:sp>
      <p:sp>
        <p:nvSpPr>
          <p:cNvPr id="27" name="Text 25"/>
          <p:cNvSpPr/>
          <p:nvPr/>
        </p:nvSpPr>
        <p:spPr>
          <a:xfrm>
            <a:off x="6126480" y="2971800"/>
            <a:ext cx="2377440" cy="1737360"/>
          </a:xfrm>
          <a:prstGeom prst="rect">
            <a:avLst/>
          </a:prstGeom>
          <a:noFill/>
          <a:ln/>
        </p:spPr>
        <p:txBody>
          <a:bodyPr wrap="square" rtlCol="0" anchor="ctr"/>
          <a:lstStyle/>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Discount &amp; Promo</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Frequency, Rating</a:t>
            </a:r>
            <a:endParaRPr lang="en-US" sz="1200" dirty="0"/>
          </a:p>
          <a:p>
            <a:pPr marL="342900" indent="-342900">
              <a:lnSpc>
                <a:spcPct val="140000"/>
              </a:lnSpc>
              <a:buSzPct val="100000"/>
              <a:buChar char="•"/>
            </a:pPr>
            <a:r>
              <a:rPr lang="en-US" sz="1200" dirty="0">
                <a:solidFill>
                  <a:srgbClr val="1E293B"/>
                </a:solidFill>
                <a:latin typeface="Calibri" pitchFamily="34" charset="0"/>
                <a:ea typeface="Calibri" pitchFamily="34" charset="-122"/>
                <a:cs typeface="Calibri" pitchFamily="34" charset="-120"/>
              </a:rPr>
              <a:t>Shipping Type</a:t>
            </a:r>
            <a:endParaRPr lang="en-US" sz="1200" dirty="0"/>
          </a:p>
        </p:txBody>
      </p:sp>
      <p:sp>
        <p:nvSpPr>
          <p:cNvPr id="28" name="Text 26"/>
          <p:cNvSpPr/>
          <p:nvPr/>
        </p:nvSpPr>
        <p:spPr>
          <a:xfrm>
            <a:off x="365760" y="484632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Dataset overview card layout | Missing data heat map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Data Preparation &amp; Methodology</a:t>
            </a:r>
            <a:endParaRPr lang="en-US" sz="2600" dirty="0"/>
          </a:p>
        </p:txBody>
      </p:sp>
      <p:sp>
        <p:nvSpPr>
          <p:cNvPr id="4" name="Shape 2"/>
          <p:cNvSpPr/>
          <p:nvPr/>
        </p:nvSpPr>
        <p:spPr>
          <a:xfrm>
            <a:off x="365760" y="96012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5" name="Shape 3"/>
          <p:cNvSpPr/>
          <p:nvPr/>
        </p:nvSpPr>
        <p:spPr>
          <a:xfrm>
            <a:off x="475488" y="1207008"/>
            <a:ext cx="502920" cy="502920"/>
          </a:xfrm>
          <a:prstGeom prst="ellipse">
            <a:avLst/>
          </a:prstGeom>
          <a:solidFill>
            <a:srgbClr val="1E2761"/>
          </a:solidFill>
          <a:ln w="12700">
            <a:solidFill>
              <a:srgbClr val="1E2761"/>
            </a:solidFill>
            <a:prstDash val="solid"/>
          </a:ln>
        </p:spPr>
      </p:sp>
      <p:sp>
        <p:nvSpPr>
          <p:cNvPr id="6" name="Text 4"/>
          <p:cNvSpPr/>
          <p:nvPr/>
        </p:nvSpPr>
        <p:spPr>
          <a:xfrm>
            <a:off x="475488" y="120700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78992" y="105156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Loading</a:t>
            </a:r>
            <a:endParaRPr lang="en-US" sz="1300" dirty="0"/>
          </a:p>
        </p:txBody>
      </p:sp>
      <p:sp>
        <p:nvSpPr>
          <p:cNvPr id="8" name="Text 6"/>
          <p:cNvSpPr/>
          <p:nvPr/>
        </p:nvSpPr>
        <p:spPr>
          <a:xfrm>
            <a:off x="1078992" y="139903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Imported dataset into pandas DataFrame for exploration</a:t>
            </a:r>
            <a:endParaRPr lang="en-US" sz="1100" dirty="0"/>
          </a:p>
        </p:txBody>
      </p:sp>
      <p:sp>
        <p:nvSpPr>
          <p:cNvPr id="9" name="Shape 7"/>
          <p:cNvSpPr/>
          <p:nvPr/>
        </p:nvSpPr>
        <p:spPr>
          <a:xfrm>
            <a:off x="365760" y="228600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10" name="Shape 8"/>
          <p:cNvSpPr/>
          <p:nvPr/>
        </p:nvSpPr>
        <p:spPr>
          <a:xfrm>
            <a:off x="475488" y="2532888"/>
            <a:ext cx="502920" cy="502920"/>
          </a:xfrm>
          <a:prstGeom prst="ellipse">
            <a:avLst/>
          </a:prstGeom>
          <a:solidFill>
            <a:srgbClr val="1E2761"/>
          </a:solidFill>
          <a:ln w="12700">
            <a:solidFill>
              <a:srgbClr val="1E2761"/>
            </a:solidFill>
            <a:prstDash val="solid"/>
          </a:ln>
        </p:spPr>
      </p:sp>
      <p:sp>
        <p:nvSpPr>
          <p:cNvPr id="11" name="Text 9"/>
          <p:cNvSpPr/>
          <p:nvPr/>
        </p:nvSpPr>
        <p:spPr>
          <a:xfrm>
            <a:off x="475488" y="253288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078992" y="237744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Missing Data</a:t>
            </a:r>
            <a:endParaRPr lang="en-US" sz="1300" dirty="0"/>
          </a:p>
        </p:txBody>
      </p:sp>
      <p:sp>
        <p:nvSpPr>
          <p:cNvPr id="13" name="Text 11"/>
          <p:cNvSpPr/>
          <p:nvPr/>
        </p:nvSpPr>
        <p:spPr>
          <a:xfrm>
            <a:off x="1078992" y="272491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Imputed 37 missing Review Ratings using category-level medians</a:t>
            </a:r>
            <a:endParaRPr lang="en-US" sz="1100" dirty="0"/>
          </a:p>
        </p:txBody>
      </p:sp>
      <p:sp>
        <p:nvSpPr>
          <p:cNvPr id="14" name="Shape 12"/>
          <p:cNvSpPr/>
          <p:nvPr/>
        </p:nvSpPr>
        <p:spPr>
          <a:xfrm>
            <a:off x="365760" y="361188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15" name="Shape 13"/>
          <p:cNvSpPr/>
          <p:nvPr/>
        </p:nvSpPr>
        <p:spPr>
          <a:xfrm>
            <a:off x="475488" y="3858768"/>
            <a:ext cx="502920" cy="502920"/>
          </a:xfrm>
          <a:prstGeom prst="ellipse">
            <a:avLst/>
          </a:prstGeom>
          <a:solidFill>
            <a:srgbClr val="1E2761"/>
          </a:solidFill>
          <a:ln w="12700">
            <a:solidFill>
              <a:srgbClr val="1E2761"/>
            </a:solidFill>
            <a:prstDash val="solid"/>
          </a:ln>
        </p:spPr>
      </p:sp>
      <p:sp>
        <p:nvSpPr>
          <p:cNvPr id="16" name="Text 14"/>
          <p:cNvSpPr/>
          <p:nvPr/>
        </p:nvSpPr>
        <p:spPr>
          <a:xfrm>
            <a:off x="475488" y="385876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1078992" y="370332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Standardization</a:t>
            </a:r>
            <a:endParaRPr lang="en-US" sz="1300" dirty="0"/>
          </a:p>
        </p:txBody>
      </p:sp>
      <p:sp>
        <p:nvSpPr>
          <p:cNvPr id="18" name="Text 16"/>
          <p:cNvSpPr/>
          <p:nvPr/>
        </p:nvSpPr>
        <p:spPr>
          <a:xfrm>
            <a:off x="1078992" y="405079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Renamed all columns to snake_case for consistency</a:t>
            </a:r>
            <a:endParaRPr lang="en-US" sz="1100" dirty="0"/>
          </a:p>
        </p:txBody>
      </p:sp>
      <p:sp>
        <p:nvSpPr>
          <p:cNvPr id="19" name="Shape 17"/>
          <p:cNvSpPr/>
          <p:nvPr/>
        </p:nvSpPr>
        <p:spPr>
          <a:xfrm>
            <a:off x="4800600" y="96012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20" name="Shape 18"/>
          <p:cNvSpPr/>
          <p:nvPr/>
        </p:nvSpPr>
        <p:spPr>
          <a:xfrm>
            <a:off x="4910328" y="1207008"/>
            <a:ext cx="502920" cy="502920"/>
          </a:xfrm>
          <a:prstGeom prst="ellipse">
            <a:avLst/>
          </a:prstGeom>
          <a:solidFill>
            <a:srgbClr val="1E2761"/>
          </a:solidFill>
          <a:ln w="12700">
            <a:solidFill>
              <a:srgbClr val="1E2761"/>
            </a:solidFill>
            <a:prstDash val="solid"/>
          </a:ln>
        </p:spPr>
      </p:sp>
      <p:sp>
        <p:nvSpPr>
          <p:cNvPr id="21" name="Text 19"/>
          <p:cNvSpPr/>
          <p:nvPr/>
        </p:nvSpPr>
        <p:spPr>
          <a:xfrm>
            <a:off x="4910328" y="120700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5513832" y="105156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Feature Engineering</a:t>
            </a:r>
            <a:endParaRPr lang="en-US" sz="1300" dirty="0"/>
          </a:p>
        </p:txBody>
      </p:sp>
      <p:sp>
        <p:nvSpPr>
          <p:cNvPr id="23" name="Text 21"/>
          <p:cNvSpPr/>
          <p:nvPr/>
        </p:nvSpPr>
        <p:spPr>
          <a:xfrm>
            <a:off x="5513832" y="139903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Created age_group bins &amp; purchase_frequency_days column</a:t>
            </a:r>
            <a:endParaRPr lang="en-US" sz="1100" dirty="0"/>
          </a:p>
        </p:txBody>
      </p:sp>
      <p:sp>
        <p:nvSpPr>
          <p:cNvPr id="24" name="Shape 22"/>
          <p:cNvSpPr/>
          <p:nvPr/>
        </p:nvSpPr>
        <p:spPr>
          <a:xfrm>
            <a:off x="4800600" y="228600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25" name="Shape 23"/>
          <p:cNvSpPr/>
          <p:nvPr/>
        </p:nvSpPr>
        <p:spPr>
          <a:xfrm>
            <a:off x="4910328" y="2532888"/>
            <a:ext cx="502920" cy="502920"/>
          </a:xfrm>
          <a:prstGeom prst="ellipse">
            <a:avLst/>
          </a:prstGeom>
          <a:solidFill>
            <a:srgbClr val="1E2761"/>
          </a:solidFill>
          <a:ln w="12700">
            <a:solidFill>
              <a:srgbClr val="1E2761"/>
            </a:solidFill>
            <a:prstDash val="solid"/>
          </a:ln>
        </p:spPr>
      </p:sp>
      <p:sp>
        <p:nvSpPr>
          <p:cNvPr id="26" name="Text 24"/>
          <p:cNvSpPr/>
          <p:nvPr/>
        </p:nvSpPr>
        <p:spPr>
          <a:xfrm>
            <a:off x="4910328" y="253288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5513832" y="237744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Redundancy Check</a:t>
            </a:r>
            <a:endParaRPr lang="en-US" sz="1300" dirty="0"/>
          </a:p>
        </p:txBody>
      </p:sp>
      <p:sp>
        <p:nvSpPr>
          <p:cNvPr id="28" name="Text 26"/>
          <p:cNvSpPr/>
          <p:nvPr/>
        </p:nvSpPr>
        <p:spPr>
          <a:xfrm>
            <a:off x="5513832" y="272491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Confirmed discount_applied &amp; promo_code_used overlap — dropped promo_code_used</a:t>
            </a:r>
            <a:endParaRPr lang="en-US" sz="1100" dirty="0"/>
          </a:p>
        </p:txBody>
      </p:sp>
      <p:sp>
        <p:nvSpPr>
          <p:cNvPr id="29" name="Shape 27"/>
          <p:cNvSpPr/>
          <p:nvPr/>
        </p:nvSpPr>
        <p:spPr>
          <a:xfrm>
            <a:off x="4800600" y="3611880"/>
            <a:ext cx="41148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7000"/>
              </a:srgbClr>
            </a:outerShdw>
          </a:effectLst>
        </p:spPr>
      </p:sp>
      <p:sp>
        <p:nvSpPr>
          <p:cNvPr id="30" name="Shape 28"/>
          <p:cNvSpPr/>
          <p:nvPr/>
        </p:nvSpPr>
        <p:spPr>
          <a:xfrm>
            <a:off x="4910328" y="3858768"/>
            <a:ext cx="502920" cy="502920"/>
          </a:xfrm>
          <a:prstGeom prst="ellipse">
            <a:avLst/>
          </a:prstGeom>
          <a:solidFill>
            <a:srgbClr val="1E2761"/>
          </a:solidFill>
          <a:ln w="12700">
            <a:solidFill>
              <a:srgbClr val="1E2761"/>
            </a:solidFill>
            <a:prstDash val="solid"/>
          </a:ln>
        </p:spPr>
      </p:sp>
      <p:sp>
        <p:nvSpPr>
          <p:cNvPr id="31" name="Text 29"/>
          <p:cNvSpPr/>
          <p:nvPr/>
        </p:nvSpPr>
        <p:spPr>
          <a:xfrm>
            <a:off x="4910328" y="3858768"/>
            <a:ext cx="5029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513832" y="3703320"/>
            <a:ext cx="32918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DB Integration</a:t>
            </a:r>
            <a:endParaRPr lang="en-US" sz="1300" dirty="0"/>
          </a:p>
        </p:txBody>
      </p:sp>
      <p:sp>
        <p:nvSpPr>
          <p:cNvPr id="33" name="Text 31"/>
          <p:cNvSpPr/>
          <p:nvPr/>
        </p:nvSpPr>
        <p:spPr>
          <a:xfrm>
            <a:off x="5513832" y="4050792"/>
            <a:ext cx="32918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Loaded clean DataFrame into MySQL for SQL analysis</a:t>
            </a:r>
            <a:endParaRPr lang="en-US" sz="1100" dirty="0"/>
          </a:p>
        </p:txBody>
      </p:sp>
      <p:sp>
        <p:nvSpPr>
          <p:cNvPr id="34" name="Text 32"/>
          <p:cNvSpPr/>
          <p:nvPr/>
        </p:nvSpPr>
        <p:spPr>
          <a:xfrm>
            <a:off x="365760" y="484632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Data pipeline flowchart / numbered workflow cards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 Revenue by Gender</a:t>
            </a:r>
            <a:endParaRPr lang="en-US" sz="2600" dirty="0"/>
          </a:p>
        </p:txBody>
      </p:sp>
      <p:graphicFrame>
        <p:nvGraphicFramePr>
          <p:cNvPr id="4" name="Chart 0" descr=""/>
          <p:cNvGraphicFramePr/>
          <p:nvPr/>
        </p:nvGraphicFramePr>
        <p:xfrm>
          <a:off x="365760" y="91440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96012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6" name="Text 3"/>
          <p:cNvSpPr/>
          <p:nvPr/>
        </p:nvSpPr>
        <p:spPr>
          <a:xfrm>
            <a:off x="5806440" y="103327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Male customers drive 2.1×</a:t>
            </a:r>
            <a:endParaRPr lang="en-US" sz="1200" dirty="0"/>
          </a:p>
        </p:txBody>
      </p:sp>
      <p:sp>
        <p:nvSpPr>
          <p:cNvPr id="7" name="Text 4"/>
          <p:cNvSpPr/>
          <p:nvPr/>
        </p:nvSpPr>
        <p:spPr>
          <a:xfrm>
            <a:off x="5806440" y="139903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more revenue than female customers ($157,890 vs $75,191)</a:t>
            </a:r>
            <a:endParaRPr lang="en-US" sz="1100" dirty="0"/>
          </a:p>
        </p:txBody>
      </p:sp>
      <p:sp>
        <p:nvSpPr>
          <p:cNvPr id="8" name="Shape 5"/>
          <p:cNvSpPr/>
          <p:nvPr/>
        </p:nvSpPr>
        <p:spPr>
          <a:xfrm>
            <a:off x="5669280" y="228600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9" name="Text 6"/>
          <p:cNvSpPr/>
          <p:nvPr/>
        </p:nvSpPr>
        <p:spPr>
          <a:xfrm>
            <a:off x="5806440" y="235915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Marketing opportunity</a:t>
            </a:r>
            <a:endParaRPr lang="en-US" sz="1200" dirty="0"/>
          </a:p>
        </p:txBody>
      </p:sp>
      <p:sp>
        <p:nvSpPr>
          <p:cNvPr id="10" name="Text 7"/>
          <p:cNvSpPr/>
          <p:nvPr/>
        </p:nvSpPr>
        <p:spPr>
          <a:xfrm>
            <a:off x="5806440" y="272491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Female segment is under-monetized — targeted campaigns could close the gap</a:t>
            </a:r>
            <a:endParaRPr lang="en-US" sz="1100" dirty="0"/>
          </a:p>
        </p:txBody>
      </p:sp>
      <p:sp>
        <p:nvSpPr>
          <p:cNvPr id="11" name="Shape 8"/>
          <p:cNvSpPr/>
          <p:nvPr/>
        </p:nvSpPr>
        <p:spPr>
          <a:xfrm>
            <a:off x="5669280" y="361188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2" name="Text 9"/>
          <p:cNvSpPr/>
          <p:nvPr/>
        </p:nvSpPr>
        <p:spPr>
          <a:xfrm>
            <a:off x="5806440" y="368503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Action</a:t>
            </a:r>
            <a:endParaRPr lang="en-US" sz="1200" dirty="0"/>
          </a:p>
        </p:txBody>
      </p:sp>
      <p:sp>
        <p:nvSpPr>
          <p:cNvPr id="13" name="Text 10"/>
          <p:cNvSpPr/>
          <p:nvPr/>
        </p:nvSpPr>
        <p:spPr>
          <a:xfrm>
            <a:off x="5806440" y="405079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Invest in female-focused promotions and product curation to grow share</a:t>
            </a:r>
            <a:endParaRPr lang="en-US" sz="1100" dirty="0"/>
          </a:p>
        </p:txBody>
      </p:sp>
      <p:sp>
        <p:nvSpPr>
          <p:cNvPr id="14" name="Text 11"/>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Grouped bar chart with revenue labels and gender icons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 Discount Behavior</a:t>
            </a:r>
            <a:endParaRPr lang="en-US" sz="2600" dirty="0"/>
          </a:p>
        </p:txBody>
      </p:sp>
      <p:graphicFrame>
        <p:nvGraphicFramePr>
          <p:cNvPr id="4" name="Chart 0" descr=""/>
          <p:cNvGraphicFramePr/>
          <p:nvPr/>
        </p:nvGraphicFramePr>
        <p:xfrm>
          <a:off x="274320" y="914400"/>
          <a:ext cx="438912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029200" y="914400"/>
            <a:ext cx="3840480" cy="411480"/>
          </a:xfrm>
          <a:prstGeom prst="rect">
            <a:avLst/>
          </a:prstGeom>
          <a:solidFill>
            <a:srgbClr val="2A3F7E"/>
          </a:solidFill>
          <a:ln w="12700">
            <a:solidFill>
              <a:srgbClr val="2A3F7E"/>
            </a:solidFill>
            <a:prstDash val="solid"/>
          </a:ln>
        </p:spPr>
      </p:sp>
      <p:sp>
        <p:nvSpPr>
          <p:cNvPr id="6" name="Text 3"/>
          <p:cNvSpPr/>
          <p:nvPr/>
        </p:nvSpPr>
        <p:spPr>
          <a:xfrm>
            <a:off x="5120640" y="960120"/>
            <a:ext cx="36576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Top Discount-Dependent Products</a:t>
            </a:r>
            <a:endParaRPr lang="en-US" sz="1300" dirty="0"/>
          </a:p>
        </p:txBody>
      </p:sp>
      <p:sp>
        <p:nvSpPr>
          <p:cNvPr id="7" name="Shape 4"/>
          <p:cNvSpPr/>
          <p:nvPr/>
        </p:nvSpPr>
        <p:spPr>
          <a:xfrm>
            <a:off x="5029200" y="1417320"/>
            <a:ext cx="3840480" cy="457200"/>
          </a:xfrm>
          <a:prstGeom prst="rect">
            <a:avLst/>
          </a:prstGeom>
          <a:solidFill>
            <a:srgbClr val="FFFFFF"/>
          </a:solidFill>
          <a:ln w="12700">
            <a:solidFill>
              <a:srgbClr val="CADCFC"/>
            </a:solidFill>
            <a:prstDash val="solid"/>
          </a:ln>
        </p:spPr>
      </p:sp>
      <p:sp>
        <p:nvSpPr>
          <p:cNvPr id="8" name="Text 5"/>
          <p:cNvSpPr/>
          <p:nvPr/>
        </p:nvSpPr>
        <p:spPr>
          <a:xfrm>
            <a:off x="5166360" y="1508760"/>
            <a:ext cx="2286000" cy="27432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Hat</a:t>
            </a:r>
            <a:endParaRPr lang="en-US" sz="1200" dirty="0"/>
          </a:p>
        </p:txBody>
      </p:sp>
      <p:sp>
        <p:nvSpPr>
          <p:cNvPr id="9" name="Text 6"/>
          <p:cNvSpPr/>
          <p:nvPr/>
        </p:nvSpPr>
        <p:spPr>
          <a:xfrm>
            <a:off x="7589520" y="1508760"/>
            <a:ext cx="1097280" cy="274320"/>
          </a:xfrm>
          <a:prstGeom prst="rect">
            <a:avLst/>
          </a:prstGeom>
          <a:noFill/>
          <a:ln/>
        </p:spPr>
        <p:txBody>
          <a:bodyPr wrap="square" rtlCol="0" anchor="ctr"/>
          <a:lstStyle/>
          <a:p>
            <a:pPr algn="r" indent="0" marL="0">
              <a:buNone/>
            </a:pPr>
            <a:r>
              <a:rPr lang="en-US" sz="1200" b="1" dirty="0">
                <a:solidFill>
                  <a:srgbClr val="F9A825"/>
                </a:solidFill>
                <a:latin typeface="Calibri" pitchFamily="34" charset="0"/>
                <a:ea typeface="Calibri" pitchFamily="34" charset="-122"/>
                <a:cs typeface="Calibri" pitchFamily="34" charset="-120"/>
              </a:rPr>
              <a:t>50.00%</a:t>
            </a:r>
            <a:endParaRPr lang="en-US" sz="1200" dirty="0"/>
          </a:p>
        </p:txBody>
      </p:sp>
      <p:sp>
        <p:nvSpPr>
          <p:cNvPr id="10" name="Shape 7"/>
          <p:cNvSpPr/>
          <p:nvPr/>
        </p:nvSpPr>
        <p:spPr>
          <a:xfrm>
            <a:off x="5029200" y="1947672"/>
            <a:ext cx="3840480" cy="457200"/>
          </a:xfrm>
          <a:prstGeom prst="rect">
            <a:avLst/>
          </a:prstGeom>
          <a:solidFill>
            <a:srgbClr val="F0F4FF"/>
          </a:solidFill>
          <a:ln w="12700">
            <a:solidFill>
              <a:srgbClr val="CADCFC"/>
            </a:solidFill>
            <a:prstDash val="solid"/>
          </a:ln>
        </p:spPr>
      </p:sp>
      <p:sp>
        <p:nvSpPr>
          <p:cNvPr id="11" name="Text 8"/>
          <p:cNvSpPr/>
          <p:nvPr/>
        </p:nvSpPr>
        <p:spPr>
          <a:xfrm>
            <a:off x="5166360" y="2039112"/>
            <a:ext cx="2286000" cy="27432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Sneakers</a:t>
            </a:r>
            <a:endParaRPr lang="en-US" sz="1200" dirty="0"/>
          </a:p>
        </p:txBody>
      </p:sp>
      <p:sp>
        <p:nvSpPr>
          <p:cNvPr id="12" name="Text 9"/>
          <p:cNvSpPr/>
          <p:nvPr/>
        </p:nvSpPr>
        <p:spPr>
          <a:xfrm>
            <a:off x="7589520" y="2039112"/>
            <a:ext cx="1097280" cy="274320"/>
          </a:xfrm>
          <a:prstGeom prst="rect">
            <a:avLst/>
          </a:prstGeom>
          <a:noFill/>
          <a:ln/>
        </p:spPr>
        <p:txBody>
          <a:bodyPr wrap="square" rtlCol="0" anchor="ctr"/>
          <a:lstStyle/>
          <a:p>
            <a:pPr algn="r" indent="0" marL="0">
              <a:buNone/>
            </a:pPr>
            <a:r>
              <a:rPr lang="en-US" sz="1200" b="1" dirty="0">
                <a:solidFill>
                  <a:srgbClr val="F9A825"/>
                </a:solidFill>
                <a:latin typeface="Calibri" pitchFamily="34" charset="0"/>
                <a:ea typeface="Calibri" pitchFamily="34" charset="-122"/>
                <a:cs typeface="Calibri" pitchFamily="34" charset="-120"/>
              </a:rPr>
              <a:t>49.66%</a:t>
            </a:r>
            <a:endParaRPr lang="en-US" sz="1200" dirty="0"/>
          </a:p>
        </p:txBody>
      </p:sp>
      <p:sp>
        <p:nvSpPr>
          <p:cNvPr id="13" name="Shape 10"/>
          <p:cNvSpPr/>
          <p:nvPr/>
        </p:nvSpPr>
        <p:spPr>
          <a:xfrm>
            <a:off x="5029200" y="2478024"/>
            <a:ext cx="3840480" cy="457200"/>
          </a:xfrm>
          <a:prstGeom prst="rect">
            <a:avLst/>
          </a:prstGeom>
          <a:solidFill>
            <a:srgbClr val="FFFFFF"/>
          </a:solidFill>
          <a:ln w="12700">
            <a:solidFill>
              <a:srgbClr val="CADCFC"/>
            </a:solidFill>
            <a:prstDash val="solid"/>
          </a:ln>
        </p:spPr>
      </p:sp>
      <p:sp>
        <p:nvSpPr>
          <p:cNvPr id="14" name="Text 11"/>
          <p:cNvSpPr/>
          <p:nvPr/>
        </p:nvSpPr>
        <p:spPr>
          <a:xfrm>
            <a:off x="5166360" y="2569464"/>
            <a:ext cx="2286000" cy="27432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Coat</a:t>
            </a:r>
            <a:endParaRPr lang="en-US" sz="1200" dirty="0"/>
          </a:p>
        </p:txBody>
      </p:sp>
      <p:sp>
        <p:nvSpPr>
          <p:cNvPr id="15" name="Text 12"/>
          <p:cNvSpPr/>
          <p:nvPr/>
        </p:nvSpPr>
        <p:spPr>
          <a:xfrm>
            <a:off x="7589520" y="2569464"/>
            <a:ext cx="1097280" cy="274320"/>
          </a:xfrm>
          <a:prstGeom prst="rect">
            <a:avLst/>
          </a:prstGeom>
          <a:noFill/>
          <a:ln/>
        </p:spPr>
        <p:txBody>
          <a:bodyPr wrap="square" rtlCol="0" anchor="ctr"/>
          <a:lstStyle/>
          <a:p>
            <a:pPr algn="r" indent="0" marL="0">
              <a:buNone/>
            </a:pPr>
            <a:r>
              <a:rPr lang="en-US" sz="1200" b="1" dirty="0">
                <a:solidFill>
                  <a:srgbClr val="F9A825"/>
                </a:solidFill>
                <a:latin typeface="Calibri" pitchFamily="34" charset="0"/>
                <a:ea typeface="Calibri" pitchFamily="34" charset="-122"/>
                <a:cs typeface="Calibri" pitchFamily="34" charset="-120"/>
              </a:rPr>
              <a:t>49.07%</a:t>
            </a:r>
            <a:endParaRPr lang="en-US" sz="1200" dirty="0"/>
          </a:p>
        </p:txBody>
      </p:sp>
      <p:sp>
        <p:nvSpPr>
          <p:cNvPr id="16" name="Shape 13"/>
          <p:cNvSpPr/>
          <p:nvPr/>
        </p:nvSpPr>
        <p:spPr>
          <a:xfrm>
            <a:off x="5029200" y="3008376"/>
            <a:ext cx="3840480" cy="457200"/>
          </a:xfrm>
          <a:prstGeom prst="rect">
            <a:avLst/>
          </a:prstGeom>
          <a:solidFill>
            <a:srgbClr val="F0F4FF"/>
          </a:solidFill>
          <a:ln w="12700">
            <a:solidFill>
              <a:srgbClr val="CADCFC"/>
            </a:solidFill>
            <a:prstDash val="solid"/>
          </a:ln>
        </p:spPr>
      </p:sp>
      <p:sp>
        <p:nvSpPr>
          <p:cNvPr id="17" name="Text 14"/>
          <p:cNvSpPr/>
          <p:nvPr/>
        </p:nvSpPr>
        <p:spPr>
          <a:xfrm>
            <a:off x="5166360" y="3099816"/>
            <a:ext cx="2286000" cy="27432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Sweater</a:t>
            </a:r>
            <a:endParaRPr lang="en-US" sz="1200" dirty="0"/>
          </a:p>
        </p:txBody>
      </p:sp>
      <p:sp>
        <p:nvSpPr>
          <p:cNvPr id="18" name="Text 15"/>
          <p:cNvSpPr/>
          <p:nvPr/>
        </p:nvSpPr>
        <p:spPr>
          <a:xfrm>
            <a:off x="7589520" y="3099816"/>
            <a:ext cx="1097280" cy="274320"/>
          </a:xfrm>
          <a:prstGeom prst="rect">
            <a:avLst/>
          </a:prstGeom>
          <a:noFill/>
          <a:ln/>
        </p:spPr>
        <p:txBody>
          <a:bodyPr wrap="square" rtlCol="0" anchor="ctr"/>
          <a:lstStyle/>
          <a:p>
            <a:pPr algn="r" indent="0" marL="0">
              <a:buNone/>
            </a:pPr>
            <a:r>
              <a:rPr lang="en-US" sz="1200" b="1" dirty="0">
                <a:solidFill>
                  <a:srgbClr val="F9A825"/>
                </a:solidFill>
                <a:latin typeface="Calibri" pitchFamily="34" charset="0"/>
                <a:ea typeface="Calibri" pitchFamily="34" charset="-122"/>
                <a:cs typeface="Calibri" pitchFamily="34" charset="-120"/>
              </a:rPr>
              <a:t>48.17%</a:t>
            </a:r>
            <a:endParaRPr lang="en-US" sz="1200" dirty="0"/>
          </a:p>
        </p:txBody>
      </p:sp>
      <p:sp>
        <p:nvSpPr>
          <p:cNvPr id="19" name="Shape 16"/>
          <p:cNvSpPr/>
          <p:nvPr/>
        </p:nvSpPr>
        <p:spPr>
          <a:xfrm>
            <a:off x="5029200" y="3538728"/>
            <a:ext cx="3840480" cy="457200"/>
          </a:xfrm>
          <a:prstGeom prst="rect">
            <a:avLst/>
          </a:prstGeom>
          <a:solidFill>
            <a:srgbClr val="FFFFFF"/>
          </a:solidFill>
          <a:ln w="12700">
            <a:solidFill>
              <a:srgbClr val="CADCFC"/>
            </a:solidFill>
            <a:prstDash val="solid"/>
          </a:ln>
        </p:spPr>
      </p:sp>
      <p:sp>
        <p:nvSpPr>
          <p:cNvPr id="20" name="Text 17"/>
          <p:cNvSpPr/>
          <p:nvPr/>
        </p:nvSpPr>
        <p:spPr>
          <a:xfrm>
            <a:off x="5166360" y="3630168"/>
            <a:ext cx="2286000" cy="27432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Pants</a:t>
            </a:r>
            <a:endParaRPr lang="en-US" sz="1200" dirty="0"/>
          </a:p>
        </p:txBody>
      </p:sp>
      <p:sp>
        <p:nvSpPr>
          <p:cNvPr id="21" name="Text 18"/>
          <p:cNvSpPr/>
          <p:nvPr/>
        </p:nvSpPr>
        <p:spPr>
          <a:xfrm>
            <a:off x="7589520" y="3630168"/>
            <a:ext cx="1097280" cy="274320"/>
          </a:xfrm>
          <a:prstGeom prst="rect">
            <a:avLst/>
          </a:prstGeom>
          <a:noFill/>
          <a:ln/>
        </p:spPr>
        <p:txBody>
          <a:bodyPr wrap="square" rtlCol="0" anchor="ctr"/>
          <a:lstStyle/>
          <a:p>
            <a:pPr algn="r" indent="0" marL="0">
              <a:buNone/>
            </a:pPr>
            <a:r>
              <a:rPr lang="en-US" sz="1200" b="1" dirty="0">
                <a:solidFill>
                  <a:srgbClr val="F9A825"/>
                </a:solidFill>
                <a:latin typeface="Calibri" pitchFamily="34" charset="0"/>
                <a:ea typeface="Calibri" pitchFamily="34" charset="-122"/>
                <a:cs typeface="Calibri" pitchFamily="34" charset="-120"/>
              </a:rPr>
              <a:t>47.37%</a:t>
            </a:r>
            <a:endParaRPr lang="en-US" sz="1200" dirty="0"/>
          </a:p>
        </p:txBody>
      </p:sp>
      <p:sp>
        <p:nvSpPr>
          <p:cNvPr id="22" name="Shape 19"/>
          <p:cNvSpPr/>
          <p:nvPr/>
        </p:nvSpPr>
        <p:spPr>
          <a:xfrm>
            <a:off x="5029200" y="4114800"/>
            <a:ext cx="3840480" cy="640080"/>
          </a:xfrm>
          <a:prstGeom prst="rect">
            <a:avLst/>
          </a:prstGeom>
          <a:solidFill>
            <a:srgbClr val="1E2761"/>
          </a:solidFill>
          <a:ln w="12700">
            <a:solidFill>
              <a:srgbClr val="1E2761"/>
            </a:solidFill>
            <a:prstDash val="solid"/>
          </a:ln>
        </p:spPr>
      </p:sp>
      <p:sp>
        <p:nvSpPr>
          <p:cNvPr id="23" name="Text 20"/>
          <p:cNvSpPr/>
          <p:nvPr/>
        </p:nvSpPr>
        <p:spPr>
          <a:xfrm>
            <a:off x="5120640" y="4142232"/>
            <a:ext cx="3657600" cy="548640"/>
          </a:xfrm>
          <a:prstGeom prst="rect">
            <a:avLst/>
          </a:prstGeom>
          <a:noFill/>
          <a:ln/>
        </p:spPr>
        <p:txBody>
          <a:bodyPr wrap="square" rtlCol="0" anchor="ctr"/>
          <a:lstStyle/>
          <a:p>
            <a:pPr indent="0" marL="0">
              <a:lnSpc>
                <a:spcPct val="120000"/>
              </a:lnSpc>
              <a:buNone/>
            </a:pPr>
            <a:r>
              <a:rPr lang="en-US" sz="1100" dirty="0">
                <a:solidFill>
                  <a:srgbClr val="F9A825"/>
                </a:solidFill>
                <a:latin typeface="Calibri" pitchFamily="34" charset="0"/>
                <a:ea typeface="Calibri" pitchFamily="34" charset="-122"/>
                <a:cs typeface="Calibri" pitchFamily="34" charset="-120"/>
              </a:rPr>
              <a:t>💡  839 discount users still spent above average — discounts attract high-value buyers</a:t>
            </a:r>
            <a:endParaRPr lang="en-US" sz="1100" dirty="0"/>
          </a:p>
        </p:txBody>
      </p:sp>
      <p:sp>
        <p:nvSpPr>
          <p:cNvPr id="24" name="Text 21"/>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Pie chart (discount usage) + bar chart (discount-dependent products)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 Product Ratings &amp; Preferences</a:t>
            </a:r>
            <a:endParaRPr lang="en-US" sz="2600" dirty="0"/>
          </a:p>
        </p:txBody>
      </p:sp>
      <p:graphicFrame>
        <p:nvGraphicFramePr>
          <p:cNvPr id="4" name="Chart 0" descr=""/>
          <p:cNvGraphicFramePr/>
          <p:nvPr/>
        </p:nvGraphicFramePr>
        <p:xfrm>
          <a:off x="365760" y="91440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914400"/>
            <a:ext cx="3200400" cy="411480"/>
          </a:xfrm>
          <a:prstGeom prst="rect">
            <a:avLst/>
          </a:prstGeom>
          <a:solidFill>
            <a:srgbClr val="2A3F7E"/>
          </a:solidFill>
          <a:ln w="12700">
            <a:solidFill>
              <a:srgbClr val="2A3F7E"/>
            </a:solidFill>
            <a:prstDash val="solid"/>
          </a:ln>
        </p:spPr>
      </p:sp>
      <p:sp>
        <p:nvSpPr>
          <p:cNvPr id="6" name="Text 3"/>
          <p:cNvSpPr/>
          <p:nvPr/>
        </p:nvSpPr>
        <p:spPr>
          <a:xfrm>
            <a:off x="5760720" y="969264"/>
            <a:ext cx="30175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Top 3 Products Per Category</a:t>
            </a:r>
            <a:endParaRPr lang="en-US" sz="1300" dirty="0"/>
          </a:p>
        </p:txBody>
      </p:sp>
      <p:sp>
        <p:nvSpPr>
          <p:cNvPr id="7" name="Shape 4"/>
          <p:cNvSpPr/>
          <p:nvPr/>
        </p:nvSpPr>
        <p:spPr>
          <a:xfrm>
            <a:off x="5669280" y="1417320"/>
            <a:ext cx="3200400" cy="713232"/>
          </a:xfrm>
          <a:prstGeom prst="rect">
            <a:avLst/>
          </a:prstGeom>
          <a:solidFill>
            <a:srgbClr val="FFFFFF"/>
          </a:solidFill>
          <a:ln w="12700">
            <a:solidFill>
              <a:srgbClr val="CADCFC"/>
            </a:solidFill>
            <a:prstDash val="solid"/>
          </a:ln>
        </p:spPr>
      </p:sp>
      <p:sp>
        <p:nvSpPr>
          <p:cNvPr id="8" name="Text 5"/>
          <p:cNvSpPr/>
          <p:nvPr/>
        </p:nvSpPr>
        <p:spPr>
          <a:xfrm>
            <a:off x="5806440" y="1472184"/>
            <a:ext cx="292608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Accessories</a:t>
            </a:r>
            <a:endParaRPr lang="en-US" sz="1200" dirty="0"/>
          </a:p>
        </p:txBody>
      </p:sp>
      <p:sp>
        <p:nvSpPr>
          <p:cNvPr id="9" name="Text 6"/>
          <p:cNvSpPr/>
          <p:nvPr/>
        </p:nvSpPr>
        <p:spPr>
          <a:xfrm>
            <a:off x="5806440" y="1764792"/>
            <a:ext cx="29260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Jewelry, Sunglasses, Belt</a:t>
            </a:r>
            <a:endParaRPr lang="en-US" sz="1100" dirty="0"/>
          </a:p>
        </p:txBody>
      </p:sp>
      <p:sp>
        <p:nvSpPr>
          <p:cNvPr id="10" name="Shape 7"/>
          <p:cNvSpPr/>
          <p:nvPr/>
        </p:nvSpPr>
        <p:spPr>
          <a:xfrm>
            <a:off x="5669280" y="2221992"/>
            <a:ext cx="3200400" cy="713232"/>
          </a:xfrm>
          <a:prstGeom prst="rect">
            <a:avLst/>
          </a:prstGeom>
          <a:solidFill>
            <a:srgbClr val="F0F4FF"/>
          </a:solidFill>
          <a:ln w="12700">
            <a:solidFill>
              <a:srgbClr val="CADCFC"/>
            </a:solidFill>
            <a:prstDash val="solid"/>
          </a:ln>
        </p:spPr>
      </p:sp>
      <p:sp>
        <p:nvSpPr>
          <p:cNvPr id="11" name="Text 8"/>
          <p:cNvSpPr/>
          <p:nvPr/>
        </p:nvSpPr>
        <p:spPr>
          <a:xfrm>
            <a:off x="5806440" y="2276856"/>
            <a:ext cx="292608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Clothing</a:t>
            </a:r>
            <a:endParaRPr lang="en-US" sz="1200" dirty="0"/>
          </a:p>
        </p:txBody>
      </p:sp>
      <p:sp>
        <p:nvSpPr>
          <p:cNvPr id="12" name="Text 9"/>
          <p:cNvSpPr/>
          <p:nvPr/>
        </p:nvSpPr>
        <p:spPr>
          <a:xfrm>
            <a:off x="5806440" y="2569464"/>
            <a:ext cx="29260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Blouse, Pants, Shirt</a:t>
            </a:r>
            <a:endParaRPr lang="en-US" sz="1100" dirty="0"/>
          </a:p>
        </p:txBody>
      </p:sp>
      <p:sp>
        <p:nvSpPr>
          <p:cNvPr id="13" name="Shape 10"/>
          <p:cNvSpPr/>
          <p:nvPr/>
        </p:nvSpPr>
        <p:spPr>
          <a:xfrm>
            <a:off x="5669280" y="3026664"/>
            <a:ext cx="3200400" cy="713232"/>
          </a:xfrm>
          <a:prstGeom prst="rect">
            <a:avLst/>
          </a:prstGeom>
          <a:solidFill>
            <a:srgbClr val="FFFFFF"/>
          </a:solidFill>
          <a:ln w="12700">
            <a:solidFill>
              <a:srgbClr val="CADCFC"/>
            </a:solidFill>
            <a:prstDash val="solid"/>
          </a:ln>
        </p:spPr>
      </p:sp>
      <p:sp>
        <p:nvSpPr>
          <p:cNvPr id="14" name="Text 11"/>
          <p:cNvSpPr/>
          <p:nvPr/>
        </p:nvSpPr>
        <p:spPr>
          <a:xfrm>
            <a:off x="5806440" y="3081528"/>
            <a:ext cx="292608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Footwear</a:t>
            </a:r>
            <a:endParaRPr lang="en-US" sz="1200" dirty="0"/>
          </a:p>
        </p:txBody>
      </p:sp>
      <p:sp>
        <p:nvSpPr>
          <p:cNvPr id="15" name="Text 12"/>
          <p:cNvSpPr/>
          <p:nvPr/>
        </p:nvSpPr>
        <p:spPr>
          <a:xfrm>
            <a:off x="5806440" y="3374136"/>
            <a:ext cx="29260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Sandals, Shoes, Sneakers</a:t>
            </a:r>
            <a:endParaRPr lang="en-US" sz="1100" dirty="0"/>
          </a:p>
        </p:txBody>
      </p:sp>
      <p:sp>
        <p:nvSpPr>
          <p:cNvPr id="16" name="Shape 13"/>
          <p:cNvSpPr/>
          <p:nvPr/>
        </p:nvSpPr>
        <p:spPr>
          <a:xfrm>
            <a:off x="5669280" y="3831336"/>
            <a:ext cx="3200400" cy="713232"/>
          </a:xfrm>
          <a:prstGeom prst="rect">
            <a:avLst/>
          </a:prstGeom>
          <a:solidFill>
            <a:srgbClr val="F0F4FF"/>
          </a:solidFill>
          <a:ln w="12700">
            <a:solidFill>
              <a:srgbClr val="CADCFC"/>
            </a:solidFill>
            <a:prstDash val="solid"/>
          </a:ln>
        </p:spPr>
      </p:sp>
      <p:sp>
        <p:nvSpPr>
          <p:cNvPr id="17" name="Text 14"/>
          <p:cNvSpPr/>
          <p:nvPr/>
        </p:nvSpPr>
        <p:spPr>
          <a:xfrm>
            <a:off x="5806440" y="3886200"/>
            <a:ext cx="292608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Outerwear</a:t>
            </a:r>
            <a:endParaRPr lang="en-US" sz="1200" dirty="0"/>
          </a:p>
        </p:txBody>
      </p:sp>
      <p:sp>
        <p:nvSpPr>
          <p:cNvPr id="18" name="Text 15"/>
          <p:cNvSpPr/>
          <p:nvPr/>
        </p:nvSpPr>
        <p:spPr>
          <a:xfrm>
            <a:off x="5806440" y="4178808"/>
            <a:ext cx="2926080" cy="274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Jacket, Coat, Hoodie</a:t>
            </a:r>
            <a:endParaRPr lang="en-US" sz="1100" dirty="0"/>
          </a:p>
        </p:txBody>
      </p:sp>
      <p:sp>
        <p:nvSpPr>
          <p:cNvPr id="19" name="Text 16"/>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Horizontal bar chart for ratings + category-product matrix</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 Shipping Behavior</a:t>
            </a:r>
            <a:endParaRPr lang="en-US" sz="2600" dirty="0"/>
          </a:p>
        </p:txBody>
      </p:sp>
      <p:graphicFrame>
        <p:nvGraphicFramePr>
          <p:cNvPr id="4" name="Chart 0" descr=""/>
          <p:cNvGraphicFramePr/>
          <p:nvPr/>
        </p:nvGraphicFramePr>
        <p:xfrm>
          <a:off x="365760" y="91440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96012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6" name="Text 3"/>
          <p:cNvSpPr/>
          <p:nvPr/>
        </p:nvSpPr>
        <p:spPr>
          <a:xfrm>
            <a:off x="5806440" y="103327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Express users spend slightly more</a:t>
            </a:r>
            <a:endParaRPr lang="en-US" sz="1200" dirty="0"/>
          </a:p>
        </p:txBody>
      </p:sp>
      <p:sp>
        <p:nvSpPr>
          <p:cNvPr id="7" name="Text 4"/>
          <p:cNvSpPr/>
          <p:nvPr/>
        </p:nvSpPr>
        <p:spPr>
          <a:xfrm>
            <a:off x="5806440" y="139903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$60.48 avg vs $58.46 for Standard — a $2.02 premium per transaction</a:t>
            </a:r>
            <a:endParaRPr lang="en-US" sz="1100" dirty="0"/>
          </a:p>
        </p:txBody>
      </p:sp>
      <p:sp>
        <p:nvSpPr>
          <p:cNvPr id="8" name="Shape 5"/>
          <p:cNvSpPr/>
          <p:nvPr/>
        </p:nvSpPr>
        <p:spPr>
          <a:xfrm>
            <a:off x="5669280" y="228600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9" name="Text 6"/>
          <p:cNvSpPr/>
          <p:nvPr/>
        </p:nvSpPr>
        <p:spPr>
          <a:xfrm>
            <a:off x="5806440" y="235915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Speed = willingness to spend</a:t>
            </a:r>
            <a:endParaRPr lang="en-US" sz="1200" dirty="0"/>
          </a:p>
        </p:txBody>
      </p:sp>
      <p:sp>
        <p:nvSpPr>
          <p:cNvPr id="10" name="Text 7"/>
          <p:cNvSpPr/>
          <p:nvPr/>
        </p:nvSpPr>
        <p:spPr>
          <a:xfrm>
            <a:off x="5806440" y="272491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Express shipping customers signal higher purchase intent and less price sensitivity</a:t>
            </a:r>
            <a:endParaRPr lang="en-US" sz="1100" dirty="0"/>
          </a:p>
        </p:txBody>
      </p:sp>
      <p:sp>
        <p:nvSpPr>
          <p:cNvPr id="11" name="Shape 8"/>
          <p:cNvSpPr/>
          <p:nvPr/>
        </p:nvSpPr>
        <p:spPr>
          <a:xfrm>
            <a:off x="5669280" y="361188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2" name="Text 9"/>
          <p:cNvSpPr/>
          <p:nvPr/>
        </p:nvSpPr>
        <p:spPr>
          <a:xfrm>
            <a:off x="5806440" y="368503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Upsell opportunity</a:t>
            </a:r>
            <a:endParaRPr lang="en-US" sz="1200" dirty="0"/>
          </a:p>
        </p:txBody>
      </p:sp>
      <p:sp>
        <p:nvSpPr>
          <p:cNvPr id="13" name="Text 10"/>
          <p:cNvSpPr/>
          <p:nvPr/>
        </p:nvSpPr>
        <p:spPr>
          <a:xfrm>
            <a:off x="5806440" y="405079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Offer free or discounted Express shipping on orders above a threshold to increase AOV</a:t>
            </a:r>
            <a:endParaRPr lang="en-US" sz="1100" dirty="0"/>
          </a:p>
        </p:txBody>
      </p:sp>
      <p:sp>
        <p:nvSpPr>
          <p:cNvPr id="14" name="Text 11"/>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Side-by-side column chart with $ value labels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 Subscription vs. Non-Subscription</a:t>
            </a:r>
            <a:endParaRPr lang="en-US" sz="2600" dirty="0"/>
          </a:p>
        </p:txBody>
      </p:sp>
      <p:graphicFrame>
        <p:nvGraphicFramePr>
          <p:cNvPr id="4" name="Chart 0" descr=""/>
          <p:cNvGraphicFramePr/>
          <p:nvPr/>
        </p:nvGraphicFramePr>
        <p:xfrm>
          <a:off x="365760" y="914400"/>
          <a:ext cx="475488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365760" y="3566160"/>
          <a:ext cx="4754880" cy="14630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349240" y="960120"/>
            <a:ext cx="352044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7" name="Text 3"/>
          <p:cNvSpPr/>
          <p:nvPr/>
        </p:nvSpPr>
        <p:spPr>
          <a:xfrm>
            <a:off x="5486400" y="1033272"/>
            <a:ext cx="324612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Parity in average spend</a:t>
            </a:r>
            <a:endParaRPr lang="en-US" sz="1200" dirty="0"/>
          </a:p>
        </p:txBody>
      </p:sp>
      <p:sp>
        <p:nvSpPr>
          <p:cNvPr id="8" name="Text 4"/>
          <p:cNvSpPr/>
          <p:nvPr/>
        </p:nvSpPr>
        <p:spPr>
          <a:xfrm>
            <a:off x="5486400" y="1399032"/>
            <a:ext cx="324612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$59.49 vs $59.87 — subscribers don't outspend, they just buy as often</a:t>
            </a:r>
            <a:endParaRPr lang="en-US" sz="1100" dirty="0"/>
          </a:p>
        </p:txBody>
      </p:sp>
      <p:sp>
        <p:nvSpPr>
          <p:cNvPr id="9" name="Shape 5"/>
          <p:cNvSpPr/>
          <p:nvPr/>
        </p:nvSpPr>
        <p:spPr>
          <a:xfrm>
            <a:off x="5349240" y="2286000"/>
            <a:ext cx="352044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0" name="Text 6"/>
          <p:cNvSpPr/>
          <p:nvPr/>
        </p:nvSpPr>
        <p:spPr>
          <a:xfrm>
            <a:off x="5486400" y="2359152"/>
            <a:ext cx="324612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Subscription penetration low</a:t>
            </a:r>
            <a:endParaRPr lang="en-US" sz="1200" dirty="0"/>
          </a:p>
        </p:txBody>
      </p:sp>
      <p:sp>
        <p:nvSpPr>
          <p:cNvPr id="11" name="Text 7"/>
          <p:cNvSpPr/>
          <p:nvPr/>
        </p:nvSpPr>
        <p:spPr>
          <a:xfrm>
            <a:off x="5486400" y="2724912"/>
            <a:ext cx="324612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Only 1,053 of 3,900 customers subscribe (27%). Growth headroom is massive</a:t>
            </a:r>
            <a:endParaRPr lang="en-US" sz="1100" dirty="0"/>
          </a:p>
        </p:txBody>
      </p:sp>
      <p:sp>
        <p:nvSpPr>
          <p:cNvPr id="12" name="Shape 8"/>
          <p:cNvSpPr/>
          <p:nvPr/>
        </p:nvSpPr>
        <p:spPr>
          <a:xfrm>
            <a:off x="5349240" y="3611880"/>
            <a:ext cx="352044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3" name="Text 9"/>
          <p:cNvSpPr/>
          <p:nvPr/>
        </p:nvSpPr>
        <p:spPr>
          <a:xfrm>
            <a:off x="5486400" y="3685032"/>
            <a:ext cx="324612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Unlock lifetime value</a:t>
            </a:r>
            <a:endParaRPr lang="en-US" sz="1200" dirty="0"/>
          </a:p>
        </p:txBody>
      </p:sp>
      <p:sp>
        <p:nvSpPr>
          <p:cNvPr id="14" name="Text 10"/>
          <p:cNvSpPr/>
          <p:nvPr/>
        </p:nvSpPr>
        <p:spPr>
          <a:xfrm>
            <a:off x="5486400" y="4050792"/>
            <a:ext cx="324612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Subscription alone doesn't lift spend — pair it with exclusive benefits &amp; loyalty rewards to drive incremental revenue</a:t>
            </a:r>
            <a:endParaRPr lang="en-US" sz="1100" dirty="0"/>
          </a:p>
        </p:txBody>
      </p:sp>
      <p:sp>
        <p:nvSpPr>
          <p:cNvPr id="15" name="Text 11"/>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Side-by-side column charts — Avg Spend &amp; Total Revenue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Customer Segmentation Insights</a:t>
            </a:r>
            <a:endParaRPr lang="en-US" sz="2600" dirty="0"/>
          </a:p>
        </p:txBody>
      </p:sp>
      <p:graphicFrame>
        <p:nvGraphicFramePr>
          <p:cNvPr id="4" name="Chart 0" descr=""/>
          <p:cNvGraphicFramePr/>
          <p:nvPr/>
        </p:nvGraphicFramePr>
        <p:xfrm>
          <a:off x="274320" y="914400"/>
          <a:ext cx="438912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029200" y="960120"/>
            <a:ext cx="384048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5029200" y="960120"/>
            <a:ext cx="109728" cy="1143000"/>
          </a:xfrm>
          <a:prstGeom prst="rect">
            <a:avLst/>
          </a:prstGeom>
          <a:solidFill>
            <a:srgbClr val="1E2761"/>
          </a:solidFill>
          <a:ln w="12700">
            <a:solidFill>
              <a:srgbClr val="1E2761"/>
            </a:solidFill>
            <a:prstDash val="solid"/>
          </a:ln>
        </p:spPr>
      </p:sp>
      <p:sp>
        <p:nvSpPr>
          <p:cNvPr id="7" name="Text 4"/>
          <p:cNvSpPr/>
          <p:nvPr/>
        </p:nvSpPr>
        <p:spPr>
          <a:xfrm>
            <a:off x="5230368" y="1033272"/>
            <a:ext cx="35204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Loyal  |  3,116 customers  (79.9%)</a:t>
            </a:r>
            <a:endParaRPr lang="en-US" sz="1300" dirty="0"/>
          </a:p>
        </p:txBody>
      </p:sp>
      <p:sp>
        <p:nvSpPr>
          <p:cNvPr id="8" name="Text 5"/>
          <p:cNvSpPr/>
          <p:nvPr/>
        </p:nvSpPr>
        <p:spPr>
          <a:xfrm>
            <a:off x="5230368" y="1399032"/>
            <a:ext cx="35204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Purchased 6+ times — high retention, high CLV</a:t>
            </a:r>
            <a:endParaRPr lang="en-US" sz="1100" dirty="0"/>
          </a:p>
        </p:txBody>
      </p:sp>
      <p:sp>
        <p:nvSpPr>
          <p:cNvPr id="9" name="Shape 6"/>
          <p:cNvSpPr/>
          <p:nvPr/>
        </p:nvSpPr>
        <p:spPr>
          <a:xfrm>
            <a:off x="5029200" y="2286000"/>
            <a:ext cx="384048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0" name="Shape 7"/>
          <p:cNvSpPr/>
          <p:nvPr/>
        </p:nvSpPr>
        <p:spPr>
          <a:xfrm>
            <a:off x="5029200" y="2286000"/>
            <a:ext cx="109728" cy="1143000"/>
          </a:xfrm>
          <a:prstGeom prst="rect">
            <a:avLst/>
          </a:prstGeom>
          <a:solidFill>
            <a:srgbClr val="4FC3F7"/>
          </a:solidFill>
          <a:ln w="12700">
            <a:solidFill>
              <a:srgbClr val="4FC3F7"/>
            </a:solidFill>
            <a:prstDash val="solid"/>
          </a:ln>
        </p:spPr>
      </p:sp>
      <p:sp>
        <p:nvSpPr>
          <p:cNvPr id="11" name="Text 8"/>
          <p:cNvSpPr/>
          <p:nvPr/>
        </p:nvSpPr>
        <p:spPr>
          <a:xfrm>
            <a:off x="5230368" y="2359152"/>
            <a:ext cx="35204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Returning  |  701 customers  (18.0%)</a:t>
            </a:r>
            <a:endParaRPr lang="en-US" sz="1300" dirty="0"/>
          </a:p>
        </p:txBody>
      </p:sp>
      <p:sp>
        <p:nvSpPr>
          <p:cNvPr id="12" name="Text 9"/>
          <p:cNvSpPr/>
          <p:nvPr/>
        </p:nvSpPr>
        <p:spPr>
          <a:xfrm>
            <a:off x="5230368" y="2724912"/>
            <a:ext cx="35204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2–5 purchases — conversion target for loyalty tier</a:t>
            </a:r>
            <a:endParaRPr lang="en-US" sz="1100" dirty="0"/>
          </a:p>
        </p:txBody>
      </p:sp>
      <p:sp>
        <p:nvSpPr>
          <p:cNvPr id="13" name="Shape 10"/>
          <p:cNvSpPr/>
          <p:nvPr/>
        </p:nvSpPr>
        <p:spPr>
          <a:xfrm>
            <a:off x="5029200" y="3611880"/>
            <a:ext cx="384048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4" name="Shape 11"/>
          <p:cNvSpPr/>
          <p:nvPr/>
        </p:nvSpPr>
        <p:spPr>
          <a:xfrm>
            <a:off x="5029200" y="3611880"/>
            <a:ext cx="109728" cy="1143000"/>
          </a:xfrm>
          <a:prstGeom prst="rect">
            <a:avLst/>
          </a:prstGeom>
          <a:solidFill>
            <a:srgbClr val="F9A825"/>
          </a:solidFill>
          <a:ln w="12700">
            <a:solidFill>
              <a:srgbClr val="F9A825"/>
            </a:solidFill>
            <a:prstDash val="solid"/>
          </a:ln>
        </p:spPr>
      </p:sp>
      <p:sp>
        <p:nvSpPr>
          <p:cNvPr id="15" name="Text 12"/>
          <p:cNvSpPr/>
          <p:nvPr/>
        </p:nvSpPr>
        <p:spPr>
          <a:xfrm>
            <a:off x="5230368" y="3685032"/>
            <a:ext cx="35204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New  |  83 customers  (2.1%)</a:t>
            </a:r>
            <a:endParaRPr lang="en-US" sz="1300" dirty="0"/>
          </a:p>
        </p:txBody>
      </p:sp>
      <p:sp>
        <p:nvSpPr>
          <p:cNvPr id="16" name="Text 13"/>
          <p:cNvSpPr/>
          <p:nvPr/>
        </p:nvSpPr>
        <p:spPr>
          <a:xfrm>
            <a:off x="5230368" y="4050792"/>
            <a:ext cx="352044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First-time buyers — focus on onboarding &amp; re-engagement</a:t>
            </a:r>
            <a:endParaRPr lang="en-US" sz="1100" dirty="0"/>
          </a:p>
        </p:txBody>
      </p:sp>
      <p:sp>
        <p:nvSpPr>
          <p:cNvPr id="17" name="Text 14"/>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Donut chart + segmentation breakdown cards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Revenue by Age Group</a:t>
            </a:r>
            <a:endParaRPr lang="en-US" sz="2600" dirty="0"/>
          </a:p>
        </p:txBody>
      </p:sp>
      <p:graphicFrame>
        <p:nvGraphicFramePr>
          <p:cNvPr id="4" name="Chart 0" descr=""/>
          <p:cNvGraphicFramePr/>
          <p:nvPr/>
        </p:nvGraphicFramePr>
        <p:xfrm>
          <a:off x="365760" y="91440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96012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6" name="Text 3"/>
          <p:cNvSpPr/>
          <p:nvPr/>
        </p:nvSpPr>
        <p:spPr>
          <a:xfrm>
            <a:off x="5806440" y="103327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Young Adults lead</a:t>
            </a:r>
            <a:endParaRPr lang="en-US" sz="1200" dirty="0"/>
          </a:p>
        </p:txBody>
      </p:sp>
      <p:sp>
        <p:nvSpPr>
          <p:cNvPr id="7" name="Text 4"/>
          <p:cNvSpPr/>
          <p:nvPr/>
        </p:nvSpPr>
        <p:spPr>
          <a:xfrm>
            <a:off x="5806440" y="139903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$62,143 — highest revenue group. Prioritize this cohort for campaigns &amp; new products</a:t>
            </a:r>
            <a:endParaRPr lang="en-US" sz="1100" dirty="0"/>
          </a:p>
        </p:txBody>
      </p:sp>
      <p:sp>
        <p:nvSpPr>
          <p:cNvPr id="8" name="Shape 5"/>
          <p:cNvSpPr/>
          <p:nvPr/>
        </p:nvSpPr>
        <p:spPr>
          <a:xfrm>
            <a:off x="5669280" y="228600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9" name="Text 6"/>
          <p:cNvSpPr/>
          <p:nvPr/>
        </p:nvSpPr>
        <p:spPr>
          <a:xfrm>
            <a:off x="5806440" y="235915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Revenue is balanced</a:t>
            </a:r>
            <a:endParaRPr lang="en-US" sz="1200" dirty="0"/>
          </a:p>
        </p:txBody>
      </p:sp>
      <p:sp>
        <p:nvSpPr>
          <p:cNvPr id="10" name="Text 7"/>
          <p:cNvSpPr/>
          <p:nvPr/>
        </p:nvSpPr>
        <p:spPr>
          <a:xfrm>
            <a:off x="5806440" y="272491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All four groups contribute comparably — no single segment dominates, reducing concentration risk</a:t>
            </a:r>
            <a:endParaRPr lang="en-US" sz="1100" dirty="0"/>
          </a:p>
        </p:txBody>
      </p:sp>
      <p:sp>
        <p:nvSpPr>
          <p:cNvPr id="11" name="Shape 8"/>
          <p:cNvSpPr/>
          <p:nvPr/>
        </p:nvSpPr>
        <p:spPr>
          <a:xfrm>
            <a:off x="5669280" y="3611880"/>
            <a:ext cx="3200400" cy="1143000"/>
          </a:xfrm>
          <a:prstGeom prst="rect">
            <a:avLst/>
          </a:prstGeom>
          <a:solidFill>
            <a:srgbClr val="FFFFFF"/>
          </a:solidFill>
          <a:ln w="12700">
            <a:solidFill>
              <a:srgbClr val="CADCFC"/>
            </a:solidFill>
            <a:prstDash val="solid"/>
          </a:ln>
          <a:effectLst>
            <a:outerShdw sx="100000" sy="100000" kx="0" ky="0" algn="bl" rotWithShape="0" blurRad="76200" dist="25400" dir="8100000">
              <a:srgbClr val="000000">
                <a:alpha val="8000"/>
              </a:srgbClr>
            </a:outerShdw>
          </a:effectLst>
        </p:spPr>
      </p:sp>
      <p:sp>
        <p:nvSpPr>
          <p:cNvPr id="12" name="Text 9"/>
          <p:cNvSpPr/>
          <p:nvPr/>
        </p:nvSpPr>
        <p:spPr>
          <a:xfrm>
            <a:off x="5806440" y="3685032"/>
            <a:ext cx="2926080" cy="347472"/>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Seniors are engaged</a:t>
            </a:r>
            <a:endParaRPr lang="en-US" sz="1200" dirty="0"/>
          </a:p>
        </p:txBody>
      </p:sp>
      <p:sp>
        <p:nvSpPr>
          <p:cNvPr id="13" name="Text 10"/>
          <p:cNvSpPr/>
          <p:nvPr/>
        </p:nvSpPr>
        <p:spPr>
          <a:xfrm>
            <a:off x="5806440" y="4050792"/>
            <a:ext cx="2926080" cy="594360"/>
          </a:xfrm>
          <a:prstGeom prst="rect">
            <a:avLst/>
          </a:prstGeom>
          <a:noFill/>
          <a:ln/>
        </p:spPr>
        <p:txBody>
          <a:bodyPr wrap="square" rtlCol="0" anchor="ctr"/>
          <a:lstStyle/>
          <a:p>
            <a:pPr indent="0" marL="0">
              <a:lnSpc>
                <a:spcPct val="120000"/>
              </a:lnSpc>
              <a:buNone/>
            </a:pPr>
            <a:r>
              <a:rPr lang="en-US" sz="1100" dirty="0">
                <a:solidFill>
                  <a:srgbClr val="334155"/>
                </a:solidFill>
                <a:latin typeface="Calibri" pitchFamily="34" charset="0"/>
                <a:ea typeface="Calibri" pitchFamily="34" charset="-122"/>
                <a:cs typeface="Calibri" pitchFamily="34" charset="-120"/>
              </a:rPr>
              <a:t>$55,763 — Seniors are active buyers; accessible UX and senior-friendly product lines will retain them</a:t>
            </a:r>
            <a:endParaRPr lang="en-US" sz="1100" dirty="0"/>
          </a:p>
        </p:txBody>
      </p:sp>
      <p:sp>
        <p:nvSpPr>
          <p:cNvPr id="14" name="Text 11"/>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Horizontal bar chart sorted by revenue + age group icons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A3B"/>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A3F7E"/>
          </a:solidFill>
          <a:ln w="12700">
            <a:solidFill>
              <a:srgbClr val="2A3F7E"/>
            </a:solidFill>
            <a:prstDash val="solid"/>
          </a:ln>
        </p:spPr>
      </p:sp>
      <p:sp>
        <p:nvSpPr>
          <p:cNvPr id="3" name="Text 1"/>
          <p:cNvSpPr/>
          <p:nvPr/>
        </p:nvSpPr>
        <p:spPr>
          <a:xfrm>
            <a:off x="365760" y="9144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Business Recommendations</a:t>
            </a:r>
            <a:endParaRPr lang="en-US" sz="2600" dirty="0"/>
          </a:p>
        </p:txBody>
      </p:sp>
      <p:sp>
        <p:nvSpPr>
          <p:cNvPr id="4" name="Shape 2"/>
          <p:cNvSpPr/>
          <p:nvPr/>
        </p:nvSpPr>
        <p:spPr>
          <a:xfrm>
            <a:off x="365760" y="960120"/>
            <a:ext cx="4114800" cy="1170432"/>
          </a:xfrm>
          <a:prstGeom prst="rect">
            <a:avLst/>
          </a:prstGeom>
          <a:solidFill>
            <a:srgbClr val="2A3F7E"/>
          </a:solidFill>
          <a:ln w="12700">
            <a:solidFill>
              <a:srgbClr val="4FC3F7"/>
            </a:solidFill>
            <a:prstDash val="solid"/>
          </a:ln>
        </p:spPr>
      </p:sp>
      <p:sp>
        <p:nvSpPr>
          <p:cNvPr id="5" name="Shape 3"/>
          <p:cNvSpPr/>
          <p:nvPr/>
        </p:nvSpPr>
        <p:spPr>
          <a:xfrm>
            <a:off x="475488" y="1280160"/>
            <a:ext cx="502920" cy="502920"/>
          </a:xfrm>
          <a:prstGeom prst="ellipse">
            <a:avLst/>
          </a:prstGeom>
          <a:solidFill>
            <a:srgbClr val="4FC3F7"/>
          </a:solidFill>
          <a:ln w="12700">
            <a:solidFill>
              <a:srgbClr val="4FC3F7"/>
            </a:solidFill>
            <a:prstDash val="solid"/>
          </a:ln>
        </p:spPr>
      </p:sp>
      <p:sp>
        <p:nvSpPr>
          <p:cNvPr id="6" name="Text 4"/>
          <p:cNvSpPr/>
          <p:nvPr/>
        </p:nvSpPr>
        <p:spPr>
          <a:xfrm>
            <a:off x="475488" y="1280160"/>
            <a:ext cx="502920" cy="502920"/>
          </a:xfrm>
          <a:prstGeom prst="rect">
            <a:avLst/>
          </a:prstGeom>
          <a:noFill/>
          <a:ln/>
        </p:spPr>
        <p:txBody>
          <a:bodyPr wrap="square" rtlCol="0" anchor="ctr"/>
          <a:lstStyle/>
          <a:p>
            <a:pPr algn="ctr" indent="0" marL="0">
              <a:buNone/>
            </a:pPr>
            <a:r>
              <a:rPr lang="en-US" sz="1100" b="1" dirty="0">
                <a:solidFill>
                  <a:srgbClr val="0D1A3B"/>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78992" y="1033272"/>
            <a:ext cx="3291840" cy="347472"/>
          </a:xfrm>
          <a:prstGeom prst="rect">
            <a:avLst/>
          </a:prstGeom>
          <a:noFill/>
          <a:ln/>
        </p:spPr>
        <p:txBody>
          <a:bodyPr wrap="square" rtlCol="0" anchor="ctr"/>
          <a:lstStyle/>
          <a:p>
            <a:pPr indent="0" marL="0">
              <a:buNone/>
            </a:pPr>
            <a:r>
              <a:rPr lang="en-US" sz="1300" b="1" dirty="0">
                <a:solidFill>
                  <a:srgbClr val="F9A825"/>
                </a:solidFill>
                <a:latin typeface="Calibri" pitchFamily="34" charset="0"/>
                <a:ea typeface="Calibri" pitchFamily="34" charset="-122"/>
                <a:cs typeface="Calibri" pitchFamily="34" charset="-120"/>
              </a:rPr>
              <a:t>🔔 Boost Subscriptions</a:t>
            </a:r>
            <a:endParaRPr lang="en-US" sz="1300" dirty="0"/>
          </a:p>
        </p:txBody>
      </p:sp>
      <p:sp>
        <p:nvSpPr>
          <p:cNvPr id="8" name="Text 6"/>
          <p:cNvSpPr/>
          <p:nvPr/>
        </p:nvSpPr>
        <p:spPr>
          <a:xfrm>
            <a:off x="1078992" y="1417320"/>
            <a:ext cx="3291840" cy="621792"/>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Offer exclusive perks (free Express shipping, early access, member discounts) to make subscriptions financially compelling</a:t>
            </a:r>
            <a:endParaRPr lang="en-US" sz="1050" dirty="0"/>
          </a:p>
        </p:txBody>
      </p:sp>
      <p:sp>
        <p:nvSpPr>
          <p:cNvPr id="9" name="Shape 7"/>
          <p:cNvSpPr/>
          <p:nvPr/>
        </p:nvSpPr>
        <p:spPr>
          <a:xfrm>
            <a:off x="365760" y="2286000"/>
            <a:ext cx="4114800" cy="1170432"/>
          </a:xfrm>
          <a:prstGeom prst="rect">
            <a:avLst/>
          </a:prstGeom>
          <a:solidFill>
            <a:srgbClr val="2A3F7E"/>
          </a:solidFill>
          <a:ln w="12700">
            <a:solidFill>
              <a:srgbClr val="4FC3F7"/>
            </a:solidFill>
            <a:prstDash val="solid"/>
          </a:ln>
        </p:spPr>
      </p:sp>
      <p:sp>
        <p:nvSpPr>
          <p:cNvPr id="10" name="Shape 8"/>
          <p:cNvSpPr/>
          <p:nvPr/>
        </p:nvSpPr>
        <p:spPr>
          <a:xfrm>
            <a:off x="475488" y="2606040"/>
            <a:ext cx="502920" cy="502920"/>
          </a:xfrm>
          <a:prstGeom prst="ellipse">
            <a:avLst/>
          </a:prstGeom>
          <a:solidFill>
            <a:srgbClr val="4FC3F7"/>
          </a:solidFill>
          <a:ln w="12700">
            <a:solidFill>
              <a:srgbClr val="4FC3F7"/>
            </a:solidFill>
            <a:prstDash val="solid"/>
          </a:ln>
        </p:spPr>
      </p:sp>
      <p:sp>
        <p:nvSpPr>
          <p:cNvPr id="11" name="Text 9"/>
          <p:cNvSpPr/>
          <p:nvPr/>
        </p:nvSpPr>
        <p:spPr>
          <a:xfrm>
            <a:off x="475488" y="2606040"/>
            <a:ext cx="502920" cy="502920"/>
          </a:xfrm>
          <a:prstGeom prst="rect">
            <a:avLst/>
          </a:prstGeom>
          <a:noFill/>
          <a:ln/>
        </p:spPr>
        <p:txBody>
          <a:bodyPr wrap="square" rtlCol="0" anchor="ctr"/>
          <a:lstStyle/>
          <a:p>
            <a:pPr algn="ctr" indent="0" marL="0">
              <a:buNone/>
            </a:pPr>
            <a:r>
              <a:rPr lang="en-US" sz="1100" b="1" dirty="0">
                <a:solidFill>
                  <a:srgbClr val="0D1A3B"/>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078992" y="2359152"/>
            <a:ext cx="3291840" cy="347472"/>
          </a:xfrm>
          <a:prstGeom prst="rect">
            <a:avLst/>
          </a:prstGeom>
          <a:noFill/>
          <a:ln/>
        </p:spPr>
        <p:txBody>
          <a:bodyPr wrap="square" rtlCol="0" anchor="ctr"/>
          <a:lstStyle/>
          <a:p>
            <a:pPr indent="0" marL="0">
              <a:buNone/>
            </a:pPr>
            <a:r>
              <a:rPr lang="en-US" sz="1300" b="1" dirty="0">
                <a:solidFill>
                  <a:srgbClr val="F9A825"/>
                </a:solidFill>
                <a:latin typeface="Calibri" pitchFamily="34" charset="0"/>
                <a:ea typeface="Calibri" pitchFamily="34" charset="-122"/>
                <a:cs typeface="Calibri" pitchFamily="34" charset="-120"/>
              </a:rPr>
              <a:t>🏅 Loyalty Programs</a:t>
            </a:r>
            <a:endParaRPr lang="en-US" sz="1300" dirty="0"/>
          </a:p>
        </p:txBody>
      </p:sp>
      <p:sp>
        <p:nvSpPr>
          <p:cNvPr id="13" name="Text 11"/>
          <p:cNvSpPr/>
          <p:nvPr/>
        </p:nvSpPr>
        <p:spPr>
          <a:xfrm>
            <a:off x="1078992" y="2743200"/>
            <a:ext cx="3291840" cy="621792"/>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Reward Returning customers to move them to Loyal status; protect the 79.9% Loyal base with VIP tiers and milestone rewards</a:t>
            </a:r>
            <a:endParaRPr lang="en-US" sz="1050" dirty="0"/>
          </a:p>
        </p:txBody>
      </p:sp>
      <p:sp>
        <p:nvSpPr>
          <p:cNvPr id="14" name="Shape 12"/>
          <p:cNvSpPr/>
          <p:nvPr/>
        </p:nvSpPr>
        <p:spPr>
          <a:xfrm>
            <a:off x="365760" y="3611880"/>
            <a:ext cx="4114800" cy="1170432"/>
          </a:xfrm>
          <a:prstGeom prst="rect">
            <a:avLst/>
          </a:prstGeom>
          <a:solidFill>
            <a:srgbClr val="2A3F7E"/>
          </a:solidFill>
          <a:ln w="12700">
            <a:solidFill>
              <a:srgbClr val="4FC3F7"/>
            </a:solidFill>
            <a:prstDash val="solid"/>
          </a:ln>
        </p:spPr>
      </p:sp>
      <p:sp>
        <p:nvSpPr>
          <p:cNvPr id="15" name="Shape 13"/>
          <p:cNvSpPr/>
          <p:nvPr/>
        </p:nvSpPr>
        <p:spPr>
          <a:xfrm>
            <a:off x="475488" y="3931920"/>
            <a:ext cx="502920" cy="502920"/>
          </a:xfrm>
          <a:prstGeom prst="ellipse">
            <a:avLst/>
          </a:prstGeom>
          <a:solidFill>
            <a:srgbClr val="4FC3F7"/>
          </a:solidFill>
          <a:ln w="12700">
            <a:solidFill>
              <a:srgbClr val="4FC3F7"/>
            </a:solidFill>
            <a:prstDash val="solid"/>
          </a:ln>
        </p:spPr>
      </p:sp>
      <p:sp>
        <p:nvSpPr>
          <p:cNvPr id="16" name="Text 14"/>
          <p:cNvSpPr/>
          <p:nvPr/>
        </p:nvSpPr>
        <p:spPr>
          <a:xfrm>
            <a:off x="475488" y="3931920"/>
            <a:ext cx="502920" cy="502920"/>
          </a:xfrm>
          <a:prstGeom prst="rect">
            <a:avLst/>
          </a:prstGeom>
          <a:noFill/>
          <a:ln/>
        </p:spPr>
        <p:txBody>
          <a:bodyPr wrap="square" rtlCol="0" anchor="ctr"/>
          <a:lstStyle/>
          <a:p>
            <a:pPr algn="ctr" indent="0" marL="0">
              <a:buNone/>
            </a:pPr>
            <a:r>
              <a:rPr lang="en-US" sz="1100" b="1" dirty="0">
                <a:solidFill>
                  <a:srgbClr val="0D1A3B"/>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1078992" y="3685032"/>
            <a:ext cx="3291840" cy="347472"/>
          </a:xfrm>
          <a:prstGeom prst="rect">
            <a:avLst/>
          </a:prstGeom>
          <a:noFill/>
          <a:ln/>
        </p:spPr>
        <p:txBody>
          <a:bodyPr wrap="square" rtlCol="0" anchor="ctr"/>
          <a:lstStyle/>
          <a:p>
            <a:pPr indent="0" marL="0">
              <a:buNone/>
            </a:pPr>
            <a:r>
              <a:rPr lang="en-US" sz="1300" b="1" dirty="0">
                <a:solidFill>
                  <a:srgbClr val="F9A825"/>
                </a:solidFill>
                <a:latin typeface="Calibri" pitchFamily="34" charset="0"/>
                <a:ea typeface="Calibri" pitchFamily="34" charset="-122"/>
                <a:cs typeface="Calibri" pitchFamily="34" charset="-120"/>
              </a:rPr>
              <a:t>💸 Review Discount Policy</a:t>
            </a:r>
            <a:endParaRPr lang="en-US" sz="1300" dirty="0"/>
          </a:p>
        </p:txBody>
      </p:sp>
      <p:sp>
        <p:nvSpPr>
          <p:cNvPr id="18" name="Text 16"/>
          <p:cNvSpPr/>
          <p:nvPr/>
        </p:nvSpPr>
        <p:spPr>
          <a:xfrm>
            <a:off x="1078992" y="4069080"/>
            <a:ext cx="3291840" cy="621792"/>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Audit discount-dependent products (Hat, Sneakers, Coat). Balance margin impact against volume gains — test price elasticity</a:t>
            </a:r>
            <a:endParaRPr lang="en-US" sz="1050" dirty="0"/>
          </a:p>
        </p:txBody>
      </p:sp>
      <p:sp>
        <p:nvSpPr>
          <p:cNvPr id="19" name="Shape 17"/>
          <p:cNvSpPr/>
          <p:nvPr/>
        </p:nvSpPr>
        <p:spPr>
          <a:xfrm>
            <a:off x="4754880" y="1623060"/>
            <a:ext cx="4114800" cy="1170432"/>
          </a:xfrm>
          <a:prstGeom prst="rect">
            <a:avLst/>
          </a:prstGeom>
          <a:solidFill>
            <a:srgbClr val="2A3F7E"/>
          </a:solidFill>
          <a:ln w="12700">
            <a:solidFill>
              <a:srgbClr val="F9A825"/>
            </a:solidFill>
            <a:prstDash val="solid"/>
          </a:ln>
        </p:spPr>
      </p:sp>
      <p:sp>
        <p:nvSpPr>
          <p:cNvPr id="20" name="Shape 18"/>
          <p:cNvSpPr/>
          <p:nvPr/>
        </p:nvSpPr>
        <p:spPr>
          <a:xfrm>
            <a:off x="4864608" y="1943100"/>
            <a:ext cx="502920" cy="502920"/>
          </a:xfrm>
          <a:prstGeom prst="ellipse">
            <a:avLst/>
          </a:prstGeom>
          <a:solidFill>
            <a:srgbClr val="F9A825"/>
          </a:solidFill>
          <a:ln w="12700">
            <a:solidFill>
              <a:srgbClr val="F9A825"/>
            </a:solidFill>
            <a:prstDash val="solid"/>
          </a:ln>
        </p:spPr>
      </p:sp>
      <p:sp>
        <p:nvSpPr>
          <p:cNvPr id="21" name="Text 19"/>
          <p:cNvSpPr/>
          <p:nvPr/>
        </p:nvSpPr>
        <p:spPr>
          <a:xfrm>
            <a:off x="4864608" y="1943100"/>
            <a:ext cx="502920" cy="502920"/>
          </a:xfrm>
          <a:prstGeom prst="rect">
            <a:avLst/>
          </a:prstGeom>
          <a:noFill/>
          <a:ln/>
        </p:spPr>
        <p:txBody>
          <a:bodyPr wrap="square" rtlCol="0" anchor="ctr"/>
          <a:lstStyle/>
          <a:p>
            <a:pPr algn="ctr" indent="0" marL="0">
              <a:buNone/>
            </a:pPr>
            <a:r>
              <a:rPr lang="en-US" sz="1100" b="1" dirty="0">
                <a:solidFill>
                  <a:srgbClr val="0D1A3B"/>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5468112" y="1696212"/>
            <a:ext cx="3291840" cy="347472"/>
          </a:xfrm>
          <a:prstGeom prst="rect">
            <a:avLst/>
          </a:prstGeom>
          <a:noFill/>
          <a:ln/>
        </p:spPr>
        <p:txBody>
          <a:bodyPr wrap="square" rtlCol="0" anchor="ctr"/>
          <a:lstStyle/>
          <a:p>
            <a:pPr indent="0" marL="0">
              <a:buNone/>
            </a:pPr>
            <a:r>
              <a:rPr lang="en-US" sz="1300" b="1" dirty="0">
                <a:solidFill>
                  <a:srgbClr val="F9A825"/>
                </a:solidFill>
                <a:latin typeface="Calibri" pitchFamily="34" charset="0"/>
                <a:ea typeface="Calibri" pitchFamily="34" charset="-122"/>
                <a:cs typeface="Calibri" pitchFamily="34" charset="-120"/>
              </a:rPr>
              <a:t>⭐ Product Positioning</a:t>
            </a:r>
            <a:endParaRPr lang="en-US" sz="1300" dirty="0"/>
          </a:p>
        </p:txBody>
      </p:sp>
      <p:sp>
        <p:nvSpPr>
          <p:cNvPr id="23" name="Text 21"/>
          <p:cNvSpPr/>
          <p:nvPr/>
        </p:nvSpPr>
        <p:spPr>
          <a:xfrm>
            <a:off x="5468112" y="2080260"/>
            <a:ext cx="3291840" cy="621792"/>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Feature Gloves, Sandals, Boots in hero campaigns. Lead with top-rated + top-selling products to build category authority</a:t>
            </a:r>
            <a:endParaRPr lang="en-US" sz="1050" dirty="0"/>
          </a:p>
        </p:txBody>
      </p:sp>
      <p:sp>
        <p:nvSpPr>
          <p:cNvPr id="24" name="Shape 22"/>
          <p:cNvSpPr/>
          <p:nvPr/>
        </p:nvSpPr>
        <p:spPr>
          <a:xfrm>
            <a:off x="4754880" y="2948940"/>
            <a:ext cx="4114800" cy="1170432"/>
          </a:xfrm>
          <a:prstGeom prst="rect">
            <a:avLst/>
          </a:prstGeom>
          <a:solidFill>
            <a:srgbClr val="2A3F7E"/>
          </a:solidFill>
          <a:ln w="12700">
            <a:solidFill>
              <a:srgbClr val="F9A825"/>
            </a:solidFill>
            <a:prstDash val="solid"/>
          </a:ln>
        </p:spPr>
      </p:sp>
      <p:sp>
        <p:nvSpPr>
          <p:cNvPr id="25" name="Shape 23"/>
          <p:cNvSpPr/>
          <p:nvPr/>
        </p:nvSpPr>
        <p:spPr>
          <a:xfrm>
            <a:off x="4864608" y="3268980"/>
            <a:ext cx="502920" cy="502920"/>
          </a:xfrm>
          <a:prstGeom prst="ellipse">
            <a:avLst/>
          </a:prstGeom>
          <a:solidFill>
            <a:srgbClr val="F9A825"/>
          </a:solidFill>
          <a:ln w="12700">
            <a:solidFill>
              <a:srgbClr val="F9A825"/>
            </a:solidFill>
            <a:prstDash val="solid"/>
          </a:ln>
        </p:spPr>
      </p:sp>
      <p:sp>
        <p:nvSpPr>
          <p:cNvPr id="26" name="Text 24"/>
          <p:cNvSpPr/>
          <p:nvPr/>
        </p:nvSpPr>
        <p:spPr>
          <a:xfrm>
            <a:off x="4864608" y="3268980"/>
            <a:ext cx="502920" cy="502920"/>
          </a:xfrm>
          <a:prstGeom prst="rect">
            <a:avLst/>
          </a:prstGeom>
          <a:noFill/>
          <a:ln/>
        </p:spPr>
        <p:txBody>
          <a:bodyPr wrap="square" rtlCol="0" anchor="ctr"/>
          <a:lstStyle/>
          <a:p>
            <a:pPr algn="ctr" indent="0" marL="0">
              <a:buNone/>
            </a:pPr>
            <a:r>
              <a:rPr lang="en-US" sz="1100" b="1" dirty="0">
                <a:solidFill>
                  <a:srgbClr val="0D1A3B"/>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5468112" y="3022092"/>
            <a:ext cx="3291840" cy="347472"/>
          </a:xfrm>
          <a:prstGeom prst="rect">
            <a:avLst/>
          </a:prstGeom>
          <a:noFill/>
          <a:ln/>
        </p:spPr>
        <p:txBody>
          <a:bodyPr wrap="square" rtlCol="0" anchor="ctr"/>
          <a:lstStyle/>
          <a:p>
            <a:pPr indent="0" marL="0">
              <a:buNone/>
            </a:pPr>
            <a:r>
              <a:rPr lang="en-US" sz="1300" b="1" dirty="0">
                <a:solidFill>
                  <a:srgbClr val="F9A825"/>
                </a:solidFill>
                <a:latin typeface="Calibri" pitchFamily="34" charset="0"/>
                <a:ea typeface="Calibri" pitchFamily="34" charset="-122"/>
                <a:cs typeface="Calibri" pitchFamily="34" charset="-120"/>
              </a:rPr>
              <a:t>🎯 Targeted Marketing</a:t>
            </a:r>
            <a:endParaRPr lang="en-US" sz="1300" dirty="0"/>
          </a:p>
        </p:txBody>
      </p:sp>
      <p:sp>
        <p:nvSpPr>
          <p:cNvPr id="28" name="Text 26"/>
          <p:cNvSpPr/>
          <p:nvPr/>
        </p:nvSpPr>
        <p:spPr>
          <a:xfrm>
            <a:off x="5468112" y="3406140"/>
            <a:ext cx="3291840" cy="621792"/>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Double down on Young Adults and Express shipping users — highest value segments. Build separate funnels for female customers</a:t>
            </a:r>
            <a:endParaRPr lang="en-US" sz="1050" dirty="0"/>
          </a:p>
        </p:txBody>
      </p:sp>
      <p:sp>
        <p:nvSpPr>
          <p:cNvPr id="29" name="Text 27"/>
          <p:cNvSpPr/>
          <p:nvPr/>
        </p:nvSpPr>
        <p:spPr>
          <a:xfrm>
            <a:off x="365760" y="4892040"/>
            <a:ext cx="8412480" cy="18288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Recommended Visual: Action card grid with priority icons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and Interaction Analysis</dc:title>
  <dc:subject>PptxGenJS Presentation</dc:subject>
  <dc:creator>PptxGenJS</dc:creator>
  <cp:lastModifiedBy>PptxGenJS</cp:lastModifiedBy>
  <cp:revision>1</cp:revision>
  <dcterms:created xsi:type="dcterms:W3CDTF">2026-04-27T13:59:35Z</dcterms:created>
  <dcterms:modified xsi:type="dcterms:W3CDTF">2026-04-27T13:59:35Z</dcterms:modified>
</cp:coreProperties>
</file>